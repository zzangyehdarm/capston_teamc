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9" r:id="rId4"/>
    <p:sldId id="295" r:id="rId5"/>
    <p:sldId id="271" r:id="rId6"/>
    <p:sldId id="272" r:id="rId7"/>
    <p:sldId id="273" r:id="rId8"/>
    <p:sldId id="274" r:id="rId9"/>
    <p:sldId id="258" r:id="rId10"/>
    <p:sldId id="260" r:id="rId11"/>
    <p:sldId id="259" r:id="rId12"/>
    <p:sldId id="264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61" r:id="rId26"/>
    <p:sldId id="262" r:id="rId27"/>
    <p:sldId id="265" r:id="rId28"/>
    <p:sldId id="263" r:id="rId29"/>
    <p:sldId id="266" r:id="rId30"/>
    <p:sldId id="280" r:id="rId31"/>
    <p:sldId id="281" r:id="rId32"/>
  </p:sldIdLst>
  <p:sldSz cx="18288000" cy="10287000"/>
  <p:notesSz cx="6858000" cy="9144000"/>
  <p:embeddedFontLst>
    <p:embeddedFont>
      <p:font typeface="Happiness Sans Bold" panose="02000800000000000000" pitchFamily="2" charset="-127"/>
      <p:bold r:id="rId33"/>
    </p:embeddedFont>
    <p:embeddedFont>
      <p:font typeface="Pretendard Bold" panose="02000503000000020004" pitchFamily="2" charset="-127"/>
      <p:bold r:id="rId34"/>
      <p:italic r:id="rId35"/>
    </p:embeddedFont>
    <p:embeddedFont>
      <p:font typeface="Pretendard ExtraBold" panose="02000503000000020004" pitchFamily="2" charset="-127"/>
      <p:bold r:id="rId36"/>
    </p:embeddedFont>
    <p:embeddedFont>
      <p:font typeface="Pretendard Light" panose="02000403000000020004" pitchFamily="2" charset="-127"/>
      <p:regular r:id="rId37"/>
    </p:embeddedFont>
    <p:embeddedFont>
      <p:font typeface="Pretendard Medium" panose="02000503000000020004" pitchFamily="2" charset="-127"/>
      <p:regular r:id="rId38"/>
      <p:bold r:id="rId39"/>
    </p:embeddedFont>
    <p:embeddedFont>
      <p:font typeface="Pretendard Regular" panose="02000503000000020004" pitchFamily="2" charset="-127"/>
      <p:regular r:id="rId40"/>
      <p:bold r:id="rId41"/>
    </p:embeddedFont>
    <p:embeddedFont>
      <p:font typeface="Pretendard SemiBold" panose="02000503000000020004" pitchFamily="2" charset="-127"/>
      <p:regular r:id="rId42"/>
      <p:bold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8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58" autoAdjust="0"/>
    <p:restoredTop sz="94621" autoAdjust="0"/>
  </p:normalViewPr>
  <p:slideViewPr>
    <p:cSldViewPr>
      <p:cViewPr varScale="1">
        <p:scale>
          <a:sx n="32" d="100"/>
          <a:sy n="32" d="100"/>
        </p:scale>
        <p:origin x="216" y="13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8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6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36.png"/><Relationship Id="rId4" Type="http://schemas.openxmlformats.org/officeDocument/2006/relationships/image" Target="../media/image6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png"/><Relationship Id="rId4" Type="http://schemas.openxmlformats.org/officeDocument/2006/relationships/image" Target="../media/image7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83.png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.png"/><Relationship Id="rId7" Type="http://schemas.openxmlformats.org/officeDocument/2006/relationships/image" Target="../media/image88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147483648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0500"/>
            <a:ext cx="18288000" cy="9525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90500"/>
            <a:ext cx="1854200" cy="1854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3800" y="-190500"/>
            <a:ext cx="1854200" cy="1854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3800" y="7480300"/>
            <a:ext cx="1854200" cy="18542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8953500"/>
            <a:ext cx="762000" cy="762000"/>
          </a:xfrm>
          <a:prstGeom prst="rect">
            <a:avLst/>
          </a:prstGeom>
          <a:effectLst>
            <a:outerShdw blurRad="21685" dir="5400000">
              <a:srgbClr val="242424">
                <a:alpha val="3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700000">
            <a:off x="8953500" y="9334500"/>
            <a:ext cx="254000" cy="76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2700000">
            <a:off x="9093200" y="9334500"/>
            <a:ext cx="254000" cy="76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20800" y="812800"/>
            <a:ext cx="4254500" cy="723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200" b="0" i="0" u="none" strike="noStrike">
                <a:solidFill>
                  <a:srgbClr val="FFFFFF"/>
                </a:solidFill>
                <a:latin typeface="Pretendard Medium"/>
              </a:rPr>
              <a:t>SWE3028-Fall-2024</a:t>
            </a:r>
          </a:p>
          <a:p>
            <a:pPr lvl="0" algn="l">
              <a:lnSpc>
                <a:spcPct val="99600"/>
              </a:lnSpc>
            </a:pPr>
            <a:r>
              <a:rPr lang="en-US" sz="2200" b="0" i="0" u="none" strike="noStrike">
                <a:solidFill>
                  <a:srgbClr val="FFFFFF"/>
                </a:solidFill>
                <a:latin typeface="Pretendard Medium"/>
              </a:rPr>
              <a:t>Capstone Design Project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0800" y="3403600"/>
            <a:ext cx="14528800" cy="2425700"/>
          </a:xfrm>
          <a:prstGeom prst="rect">
            <a:avLst/>
          </a:prstGeom>
          <a:effectLst>
            <a:outerShdw blurRad="246944" dist="47625" dir="2700000">
              <a:srgbClr val="FFFFFF">
                <a:alpha val="20000"/>
              </a:srgbClr>
            </a:outerShdw>
          </a:effectLst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7500" b="1" i="0" u="none" strike="noStrike">
                <a:solidFill>
                  <a:srgbClr val="FFFFFF"/>
                </a:solidFill>
                <a:latin typeface="Pretendard Medium"/>
              </a:rPr>
              <a:t>NLP-based</a:t>
            </a:r>
          </a:p>
          <a:p>
            <a:pPr lvl="0" algn="l">
              <a:lnSpc>
                <a:spcPct val="95449"/>
              </a:lnSpc>
            </a:pPr>
            <a:r>
              <a:rPr lang="en-US" sz="7500" b="0" i="0" u="none" strike="noStrike">
                <a:solidFill>
                  <a:srgbClr val="FFFFFF"/>
                </a:solidFill>
                <a:latin typeface="Pretendard ExtraBold"/>
              </a:rPr>
              <a:t>Psychological Diagnostic Diary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1600" y="7708900"/>
            <a:ext cx="7150100" cy="762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1600" y="7708900"/>
            <a:ext cx="3340100" cy="762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3576300" y="7912100"/>
            <a:ext cx="36957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000" b="0" i="0" u="none" strike="noStrike" spc="100">
                <a:solidFill>
                  <a:srgbClr val="FFFFFF"/>
                </a:solidFill>
                <a:ea typeface="Pretendard Regular"/>
              </a:rPr>
              <a:t>김나영</a:t>
            </a:r>
            <a:r>
              <a:rPr lang="en-US" sz="2000" b="0" i="0" u="none" strike="noStrike" spc="10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000" b="0" i="0" u="none" strike="noStrike" spc="100">
                <a:solidFill>
                  <a:srgbClr val="FFFFFF"/>
                </a:solidFill>
                <a:ea typeface="Pretendard Regular"/>
              </a:rPr>
              <a:t>김예담</a:t>
            </a:r>
            <a:r>
              <a:rPr lang="en-US" sz="2000" b="0" i="0" u="none" strike="noStrike" spc="10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000" b="0" i="0" u="none" strike="noStrike" spc="100">
                <a:solidFill>
                  <a:srgbClr val="FFFFFF"/>
                </a:solidFill>
                <a:ea typeface="Pretendard Regular"/>
              </a:rPr>
              <a:t>박준현</a:t>
            </a:r>
            <a:r>
              <a:rPr lang="en-US" sz="2000" b="0" i="0" u="none" strike="noStrike" spc="10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000" b="0" i="0" u="none" strike="noStrike" spc="100">
                <a:solidFill>
                  <a:srgbClr val="FFFFFF"/>
                </a:solidFill>
                <a:ea typeface="Pretendard Regular"/>
              </a:rPr>
              <a:t>방기호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14000" y="7899400"/>
            <a:ext cx="30861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200" b="0" i="0" u="none" strike="noStrike" spc="100">
                <a:solidFill>
                  <a:srgbClr val="55855B"/>
                </a:solidFill>
                <a:ea typeface="Happiness Sans Bold"/>
              </a:rPr>
              <a:t>런닝머신</a:t>
            </a:r>
            <a:r>
              <a:rPr lang="en-US" sz="2200" b="0" i="0" u="none" strike="noStrike" spc="100">
                <a:solidFill>
                  <a:srgbClr val="55855B"/>
                </a:solidFill>
                <a:latin typeface="Happiness Sans Bold"/>
              </a:rPr>
              <a:t> </a:t>
            </a:r>
            <a:r>
              <a:rPr lang="ko-KR" sz="2200" b="0" i="0" u="none" strike="noStrike" spc="100">
                <a:solidFill>
                  <a:srgbClr val="55855B"/>
                </a:solidFill>
                <a:ea typeface="Happiness Sans Bold"/>
              </a:rPr>
              <a:t>팀</a:t>
            </a:r>
            <a:r>
              <a:rPr lang="en-US" sz="2200" b="0" i="0" u="none" strike="noStrike" spc="100">
                <a:solidFill>
                  <a:srgbClr val="55855B"/>
                </a:solidFill>
                <a:latin typeface="Happiness Sans Bold"/>
              </a:rPr>
              <a:t>(TEAM C)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0800" y="7810500"/>
            <a:ext cx="6883400" cy="60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500" b="0" i="0" u="none" strike="noStrike">
                <a:solidFill>
                  <a:srgbClr val="FFFFFF"/>
                </a:solidFill>
                <a:latin typeface="Pretendard SemiBold"/>
              </a:rPr>
              <a:t>Midterm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53300" y="1244600"/>
            <a:ext cx="3708400" cy="876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5000" b="0" i="0" u="none" strike="noStrike" spc="100">
                <a:solidFill>
                  <a:srgbClr val="55855B"/>
                </a:solidFill>
                <a:latin typeface="Pretendard Bold"/>
              </a:rPr>
              <a:t>CONTENTS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00" y="2743200"/>
            <a:ext cx="6908800" cy="889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9600" y="2743200"/>
            <a:ext cx="1130300" cy="889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5753100" y="2908300"/>
            <a:ext cx="10033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FFFFFF"/>
                </a:solidFill>
                <a:latin typeface="Pretendard SemiBold"/>
              </a:rPr>
              <a:t>01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269" y="6475056"/>
            <a:ext cx="6908800" cy="889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0269" y="6475056"/>
            <a:ext cx="1130300" cy="8890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5743769" y="6627456"/>
            <a:ext cx="10033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FFFFFF"/>
                </a:solidFill>
                <a:latin typeface="Pretendard SemiBold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26469" y="6627456"/>
            <a:ext cx="49657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500" b="0" i="0" u="none" strike="noStrike" dirty="0">
                <a:solidFill>
                  <a:srgbClr val="212121"/>
                </a:solidFill>
                <a:latin typeface="Pretendard SemiBold"/>
              </a:rPr>
              <a:t>Challenges / Limitations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50100" y="2908300"/>
            <a:ext cx="49657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500" dirty="0">
                <a:solidFill>
                  <a:srgbClr val="212121"/>
                </a:solidFill>
                <a:latin typeface="Pretendard SemiBold"/>
              </a:rPr>
              <a:t>Planned Schedule</a:t>
            </a:r>
            <a:endParaRPr lang="en-US" sz="3500" b="0" i="0" u="none" strike="noStrike" dirty="0">
              <a:solidFill>
                <a:srgbClr val="212121"/>
              </a:solidFill>
              <a:latin typeface="Pretendard SemiBold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269" y="4464050"/>
            <a:ext cx="6908800" cy="889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0269" y="4464050"/>
            <a:ext cx="1130300" cy="8890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5743769" y="4629150"/>
            <a:ext cx="10033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FFFFFF"/>
                </a:solidFill>
                <a:latin typeface="Pretendard SemiBold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47169" y="4616450"/>
            <a:ext cx="39116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500" b="0" i="0" u="none" strike="noStrike">
                <a:solidFill>
                  <a:srgbClr val="212121"/>
                </a:solidFill>
                <a:latin typeface="Pretendard SemiBold"/>
              </a:rPr>
              <a:t>Progress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97893" y="5558453"/>
            <a:ext cx="70231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787878"/>
                </a:solidFill>
                <a:ea typeface="Pretendard Light"/>
              </a:rPr>
              <a:t>⓵ UX/UI Design ⓶ Front-end  ⓷ </a:t>
            </a:r>
            <a:r>
              <a:rPr lang="en-US" altLang="ko-KR" sz="2000" b="0" i="0" u="none" strike="noStrike" dirty="0">
                <a:solidFill>
                  <a:srgbClr val="787878"/>
                </a:solidFill>
                <a:ea typeface="Pretendard Light"/>
              </a:rPr>
              <a:t>Back-end</a:t>
            </a:r>
            <a:r>
              <a:rPr lang="en-US" sz="2000" b="0" i="0" u="none" strike="noStrike" dirty="0">
                <a:solidFill>
                  <a:srgbClr val="787878"/>
                </a:solidFill>
                <a:ea typeface="Pretendard Light"/>
              </a:rPr>
              <a:t> ⓸ AI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269" y="7973656"/>
            <a:ext cx="6908800" cy="889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0269" y="7973656"/>
            <a:ext cx="1130300" cy="889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5743769" y="8126056"/>
            <a:ext cx="10033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FFFFFF"/>
                </a:solidFill>
                <a:latin typeface="Pretendard SemiBold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26469" y="8126056"/>
            <a:ext cx="49657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500" b="0" i="0" u="none" strike="noStrike">
                <a:solidFill>
                  <a:srgbClr val="212121"/>
                </a:solidFill>
                <a:latin typeface="Pretendard SemiBold"/>
              </a:rPr>
              <a:t>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2100" y="8102600"/>
            <a:ext cx="12026900" cy="5727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100" y="8102600"/>
            <a:ext cx="12026900" cy="5727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900" y="8978900"/>
            <a:ext cx="16827500" cy="6705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6100" y="2387600"/>
            <a:ext cx="12026900" cy="5727700"/>
          </a:xfrm>
          <a:prstGeom prst="rect">
            <a:avLst/>
          </a:prstGeom>
        </p:spPr>
      </p:pic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866900" y="1714500"/>
          <a:ext cx="13868400" cy="23749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749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Week 2-3</a:t>
                      </a:r>
                      <a:endParaRPr lang="en-US" sz="1100"/>
                    </a:p>
                  </a:txBody>
                  <a:tcPr marL="19050" marR="19050" marT="19050" marB="1905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Week 4-5</a:t>
                      </a:r>
                      <a:endParaRPr lang="en-US" sz="1100"/>
                    </a:p>
                  </a:txBody>
                  <a:tcPr marL="19050" marR="19050" marT="19050" marB="1905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Week 6-7</a:t>
                      </a:r>
                      <a:endParaRPr lang="en-US" sz="1100"/>
                    </a:p>
                  </a:txBody>
                  <a:tcPr marL="19050" marR="19050" marT="19050" marB="1905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Week 8-9</a:t>
                      </a:r>
                      <a:endParaRPr lang="en-US" sz="1100"/>
                    </a:p>
                  </a:txBody>
                  <a:tcPr marL="19050" marR="19050" marT="19050" marB="1905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Week 10-11</a:t>
                      </a:r>
                      <a:endParaRPr lang="en-US" sz="1100"/>
                    </a:p>
                  </a:txBody>
                  <a:tcPr marL="19050" marR="19050" marT="19050" marB="1905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Week 12-13</a:t>
                      </a:r>
                      <a:endParaRPr lang="en-US" sz="1100"/>
                    </a:p>
                  </a:txBody>
                  <a:tcPr marL="19050" marR="19050" marT="19050" marB="1905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Week 14-15</a:t>
                      </a:r>
                      <a:endParaRPr lang="en-US" sz="1100"/>
                    </a:p>
                  </a:txBody>
                  <a:tcPr marL="19050" marR="19050" marT="19050" marB="1905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92100" y="2387600"/>
            <a:ext cx="12026900" cy="5727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02100" y="1892300"/>
            <a:ext cx="7213600" cy="7124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00" y="2552700"/>
            <a:ext cx="3289300" cy="685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-152400" y="2730500"/>
            <a:ext cx="64262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3669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Pretendard SemiBold"/>
              </a:rPr>
              <a:t>Topic Ideation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7700" y="3479800"/>
            <a:ext cx="4178300" cy="685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378200" y="3644900"/>
            <a:ext cx="64262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3669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Pretendard SemiBold"/>
              </a:rPr>
              <a:t>Data Collection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06900" y="4457700"/>
            <a:ext cx="6337300" cy="6858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4610100" y="4610100"/>
            <a:ext cx="64262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3669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Pretendard SemiBold"/>
              </a:rPr>
              <a:t>AI Model Design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02400" y="5422900"/>
            <a:ext cx="4178300" cy="685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02400" y="6451600"/>
            <a:ext cx="4178300" cy="685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0700" y="7277100"/>
            <a:ext cx="6337300" cy="6858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8343900" y="7416800"/>
            <a:ext cx="64262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3669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Pretendard SemiBold"/>
              </a:rPr>
              <a:t>UX/UI Design &amp; Implementation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77800" y="8102600"/>
            <a:ext cx="4178300" cy="685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61818" y="2368550"/>
            <a:ext cx="2654300" cy="66294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1811000" y="8280400"/>
            <a:ext cx="64262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3669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Pretendard SemiBold"/>
              </a:rPr>
              <a:t>Beta Service &amp; FeedBack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22900" y="6616700"/>
            <a:ext cx="64262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3669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Pretendard SemiBold"/>
              </a:rPr>
              <a:t>Model &amp; Algorithm Implementation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22900" y="5600700"/>
            <a:ext cx="64262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3669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Pretendard SemiBold"/>
              </a:rPr>
              <a:t>Data PreProcessing</a:t>
            </a:r>
          </a:p>
        </p:txBody>
      </p:sp>
      <p:sp>
        <p:nvSpPr>
          <p:cNvPr id="29" name="TextBox 2">
            <a:extLst>
              <a:ext uri="{FF2B5EF4-FFF2-40B4-BE49-F238E27FC236}">
                <a16:creationId xmlns:a16="http://schemas.microsoft.com/office/drawing/2014/main" id="{564670BE-8D5C-12DB-D7F1-C445AA22C843}"/>
              </a:ext>
            </a:extLst>
          </p:cNvPr>
          <p:cNvSpPr txBox="1"/>
          <p:nvPr/>
        </p:nvSpPr>
        <p:spPr>
          <a:xfrm>
            <a:off x="762000" y="711200"/>
            <a:ext cx="108585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01. </a:t>
            </a:r>
            <a:r>
              <a:rPr lang="en-US" sz="3500" b="1" spc="100" dirty="0">
                <a:solidFill>
                  <a:srgbClr val="55855B"/>
                </a:solidFill>
                <a:latin typeface="Pretendard Bold"/>
              </a:rPr>
              <a:t>Planned Schedule</a:t>
            </a:r>
            <a:endParaRPr lang="en-US" sz="3500" b="0" i="0" u="none" strike="noStrike" spc="100" dirty="0">
              <a:solidFill>
                <a:srgbClr val="55855B"/>
              </a:solidFill>
              <a:latin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1839981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00" y="711200"/>
            <a:ext cx="108585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>
                <a:solidFill>
                  <a:srgbClr val="55855B"/>
                </a:solidFill>
                <a:latin typeface="Pretendard Bold"/>
              </a:rPr>
              <a:t>01. Role of Each Member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3300" y="2514600"/>
            <a:ext cx="2705100" cy="3441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6300" y="2514600"/>
            <a:ext cx="2705100" cy="344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6600" y="2514600"/>
            <a:ext cx="2705100" cy="3441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8300" y="2514600"/>
            <a:ext cx="2946400" cy="3441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663700" y="6337300"/>
            <a:ext cx="29083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00" b="0" i="0" u="none" strike="noStrike" dirty="0" err="1">
                <a:solidFill>
                  <a:srgbClr val="55855B"/>
                </a:solidFill>
                <a:latin typeface="Pretendard Medium"/>
              </a:rPr>
              <a:t>Yehdarm</a:t>
            </a:r>
            <a:endParaRPr lang="en-US" sz="3800" b="0" i="0" u="none" strike="noStrike" dirty="0">
              <a:solidFill>
                <a:srgbClr val="55855B"/>
              </a:solidFill>
              <a:latin typeface="Pretendard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765800" y="6337300"/>
            <a:ext cx="29083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00" b="0" i="0" u="none" strike="noStrike">
                <a:solidFill>
                  <a:srgbClr val="55855B"/>
                </a:solidFill>
                <a:latin typeface="Pretendard Medium"/>
              </a:rPr>
              <a:t>Nayeong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15500" y="6337300"/>
            <a:ext cx="29083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00" b="0" i="0" u="none" strike="noStrike">
                <a:solidFill>
                  <a:srgbClr val="55855B"/>
                </a:solidFill>
                <a:latin typeface="Pretendard Medium"/>
              </a:rPr>
              <a:t>Giho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652500" y="6337300"/>
            <a:ext cx="29083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00" b="0" i="0" u="none" strike="noStrike">
                <a:solidFill>
                  <a:srgbClr val="55855B"/>
                </a:solidFill>
                <a:latin typeface="Pretendard Medium"/>
              </a:rPr>
              <a:t>Junhyun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300" y="7239000"/>
            <a:ext cx="2946400" cy="1041400"/>
          </a:xfrm>
          <a:prstGeom prst="rect">
            <a:avLst/>
          </a:prstGeom>
          <a:effectLst>
            <a:outerShdw blurRad="10772" dist="55999" dir="2700000">
              <a:srgbClr val="000000">
                <a:alpha val="50000"/>
              </a:srgbClr>
            </a:outerShdw>
          </a:effectLst>
        </p:spPr>
      </p:pic>
      <p:sp>
        <p:nvSpPr>
          <p:cNvPr id="16" name="TextBox 16"/>
          <p:cNvSpPr txBox="1"/>
          <p:nvPr/>
        </p:nvSpPr>
        <p:spPr>
          <a:xfrm>
            <a:off x="1879600" y="7480300"/>
            <a:ext cx="2628900" cy="533400"/>
          </a:xfrm>
          <a:prstGeom prst="rect">
            <a:avLst/>
          </a:prstGeom>
          <a:effectLst>
            <a:outerShdw dist="3810" dir="2700000">
              <a:srgbClr val="000000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 dirty="0">
                <a:solidFill>
                  <a:srgbClr val="55855B"/>
                </a:solidFill>
                <a:latin typeface="Pretendard Medium"/>
              </a:rPr>
              <a:t>UX / UI design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1300" y="7239000"/>
            <a:ext cx="3695700" cy="1041400"/>
          </a:xfrm>
          <a:prstGeom prst="rect">
            <a:avLst/>
          </a:prstGeom>
          <a:effectLst>
            <a:outerShdw blurRad="10772" dist="55999" dir="2700000">
              <a:srgbClr val="000000">
                <a:alpha val="50000"/>
              </a:srgbClr>
            </a:outerShdw>
          </a:effectLst>
        </p:spPr>
      </p:pic>
      <p:sp>
        <p:nvSpPr>
          <p:cNvPr id="18" name="TextBox 18"/>
          <p:cNvSpPr txBox="1"/>
          <p:nvPr/>
        </p:nvSpPr>
        <p:spPr>
          <a:xfrm>
            <a:off x="5600700" y="7480300"/>
            <a:ext cx="3327400" cy="533400"/>
          </a:xfrm>
          <a:prstGeom prst="rect">
            <a:avLst/>
          </a:prstGeom>
          <a:effectLst>
            <a:outerShdw dist="3810" dir="2700000">
              <a:srgbClr val="000000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55855B"/>
                </a:solidFill>
                <a:latin typeface="Pretendard Medium"/>
              </a:rPr>
              <a:t>AI Implementation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6300" y="7239000"/>
            <a:ext cx="2946400" cy="1041400"/>
          </a:xfrm>
          <a:prstGeom prst="rect">
            <a:avLst/>
          </a:prstGeom>
          <a:effectLst>
            <a:outerShdw blurRad="10772" dist="55999" dir="2700000">
              <a:srgbClr val="000000">
                <a:alpha val="50000"/>
              </a:srgbClr>
            </a:outerShdw>
          </a:effectLst>
        </p:spPr>
      </p:pic>
      <p:sp>
        <p:nvSpPr>
          <p:cNvPr id="20" name="TextBox 20"/>
          <p:cNvSpPr txBox="1"/>
          <p:nvPr/>
        </p:nvSpPr>
        <p:spPr>
          <a:xfrm>
            <a:off x="10363200" y="7480300"/>
            <a:ext cx="1879600" cy="533400"/>
          </a:xfrm>
          <a:prstGeom prst="rect">
            <a:avLst/>
          </a:prstGeom>
          <a:effectLst>
            <a:outerShdw dist="3810" dir="2700000">
              <a:srgbClr val="000000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55855B"/>
                </a:solidFill>
                <a:latin typeface="Pretendard Medium"/>
              </a:rPr>
              <a:t>Front-end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03300" y="7213600"/>
            <a:ext cx="2946400" cy="1041400"/>
          </a:xfrm>
          <a:prstGeom prst="rect">
            <a:avLst/>
          </a:prstGeom>
          <a:effectLst>
            <a:outerShdw blurRad="10772" dist="55999" dir="2700000">
              <a:srgbClr val="000000">
                <a:alpha val="50000"/>
              </a:srgbClr>
            </a:outerShdw>
          </a:effectLst>
        </p:spPr>
      </p:pic>
      <p:sp>
        <p:nvSpPr>
          <p:cNvPr id="22" name="TextBox 22"/>
          <p:cNvSpPr txBox="1"/>
          <p:nvPr/>
        </p:nvSpPr>
        <p:spPr>
          <a:xfrm>
            <a:off x="14325600" y="7454900"/>
            <a:ext cx="1905000" cy="533400"/>
          </a:xfrm>
          <a:prstGeom prst="rect">
            <a:avLst/>
          </a:prstGeom>
          <a:effectLst>
            <a:outerShdw dist="3810" dir="2700000">
              <a:srgbClr val="000000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55855B"/>
                </a:solidFill>
                <a:latin typeface="Pretendard Medium"/>
              </a:rPr>
              <a:t>Back-end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FECDCB-175C-F15C-4458-72E97AB47C39}"/>
              </a:ext>
            </a:extLst>
          </p:cNvPr>
          <p:cNvSpPr txBox="1"/>
          <p:nvPr/>
        </p:nvSpPr>
        <p:spPr>
          <a:xfrm>
            <a:off x="410547" y="64381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711200"/>
            <a:ext cx="1085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>
                <a:solidFill>
                  <a:srgbClr val="55855B"/>
                </a:solidFill>
                <a:latin typeface="Pretendard Bold"/>
              </a:rPr>
              <a:t>02. Progress - UX / UI Design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2743200"/>
            <a:ext cx="7391400" cy="6616700"/>
          </a:xfrm>
          <a:prstGeom prst="rect">
            <a:avLst/>
          </a:prstGeom>
          <a:effectLst>
            <a:outerShdw blurRad="436382" dist="152756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480000">
            <a:off x="12801600" y="2959100"/>
            <a:ext cx="19050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0000">
            <a:off x="8128000" y="6197600"/>
            <a:ext cx="5613400" cy="152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62800" y="1747163"/>
            <a:ext cx="3962400" cy="711200"/>
          </a:xfrm>
          <a:prstGeom prst="rect">
            <a:avLst/>
          </a:prstGeom>
          <a:effectLst>
            <a:outerShdw blurRad="131703" dist="7620" dir="2700000">
              <a:srgbClr val="787878">
                <a:alpha val="20000"/>
              </a:srgbClr>
            </a:outerShdw>
          </a:effectLst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400" dirty="0">
                <a:solidFill>
                  <a:srgbClr val="55855B"/>
                </a:solidFill>
                <a:latin typeface="Pretendard SemiBold"/>
              </a:rPr>
              <a:t>&lt;Main Page&gt;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541500" y="2692400"/>
            <a:ext cx="26670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500" b="0" i="0" u="none" strike="noStrike">
                <a:solidFill>
                  <a:srgbClr val="595959"/>
                </a:solidFill>
                <a:latin typeface="Pretendard Medium"/>
              </a:rPr>
              <a:t>Navigation Bar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893800" y="6070600"/>
            <a:ext cx="35052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500" b="0" i="0" u="none" strike="noStrike">
                <a:solidFill>
                  <a:srgbClr val="595959"/>
                </a:solidFill>
                <a:latin typeface="Pretendard Medium"/>
              </a:rPr>
              <a:t>Button to Writing Page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711200"/>
            <a:ext cx="1085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>
                <a:solidFill>
                  <a:srgbClr val="55855B"/>
                </a:solidFill>
                <a:latin typeface="Pretendard Bold"/>
              </a:rPr>
              <a:t>02. Progress - UX / UI Design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300" y="3111500"/>
            <a:ext cx="7251700" cy="5270500"/>
          </a:xfrm>
          <a:prstGeom prst="rect">
            <a:avLst/>
          </a:prstGeom>
          <a:effectLst>
            <a:outerShdw blurRad="276019" dist="121488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2300" y="3111500"/>
            <a:ext cx="7251700" cy="5270500"/>
          </a:xfrm>
          <a:prstGeom prst="rect">
            <a:avLst/>
          </a:prstGeom>
          <a:effectLst>
            <a:outerShdw blurRad="276019" dist="121488" dir="2700000">
              <a:srgbClr val="000000">
                <a:alpha val="50000"/>
              </a:srgbClr>
            </a:outerShdw>
          </a:effectLst>
        </p:spPr>
      </p:pic>
      <p:sp>
        <p:nvSpPr>
          <p:cNvPr id="7" name="TextBox 7"/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62800" y="1752600"/>
            <a:ext cx="3962400" cy="711200"/>
          </a:xfrm>
          <a:prstGeom prst="rect">
            <a:avLst/>
          </a:prstGeom>
          <a:effectLst>
            <a:outerShdw blurRad="131703" dist="7620" dir="2700000">
              <a:srgbClr val="787878">
                <a:alpha val="20000"/>
              </a:srgbClr>
            </a:outerShdw>
          </a:effectLst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400">
                <a:solidFill>
                  <a:srgbClr val="55855B"/>
                </a:solidFill>
                <a:latin typeface="Pretendard SemiBold"/>
              </a:rPr>
              <a:t>&lt;Writing Page&gt;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82800" y="8496300"/>
            <a:ext cx="61214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500" b="0" i="0" u="none" strike="noStrike" spc="-300">
                <a:solidFill>
                  <a:srgbClr val="212121"/>
                </a:solidFill>
                <a:latin typeface="Pretendard Light"/>
              </a:rPr>
              <a:t>Create New Journal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83800" y="8394700"/>
            <a:ext cx="61214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500" b="0" i="0" u="none" strike="noStrike" spc="-300">
                <a:solidFill>
                  <a:srgbClr val="212121"/>
                </a:solidFill>
                <a:latin typeface="Pretendard Light"/>
              </a:rPr>
              <a:t>Use Drafted Journal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711200"/>
            <a:ext cx="1085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>
                <a:solidFill>
                  <a:srgbClr val="55855B"/>
                </a:solidFill>
                <a:latin typeface="Pretendard Bold"/>
              </a:rPr>
              <a:t>02. Progress - UX / UI Design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300" y="3098800"/>
            <a:ext cx="7264400" cy="5270500"/>
          </a:xfrm>
          <a:prstGeom prst="rect">
            <a:avLst/>
          </a:prstGeom>
          <a:effectLst>
            <a:outerShdw blurRad="276242" dist="121537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2300" y="3098800"/>
            <a:ext cx="7264400" cy="5270500"/>
          </a:xfrm>
          <a:prstGeom prst="rect">
            <a:avLst/>
          </a:prstGeom>
          <a:effectLst>
            <a:outerShdw blurRad="276242" dist="121537" dir="2700000">
              <a:srgbClr val="000000">
                <a:alpha val="50000"/>
              </a:srgbClr>
            </a:outerShdw>
          </a:effectLst>
        </p:spPr>
      </p:pic>
      <p:sp>
        <p:nvSpPr>
          <p:cNvPr id="7" name="TextBox 7"/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62800" y="1752600"/>
            <a:ext cx="3962400" cy="711200"/>
          </a:xfrm>
          <a:prstGeom prst="rect">
            <a:avLst/>
          </a:prstGeom>
          <a:effectLst>
            <a:outerShdw blurRad="131703" dist="7620" dir="2700000">
              <a:srgbClr val="787878">
                <a:alpha val="20000"/>
              </a:srgbClr>
            </a:outerShdw>
          </a:effectLst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400">
                <a:solidFill>
                  <a:srgbClr val="55855B"/>
                </a:solidFill>
                <a:latin typeface="Pretendard SemiBold"/>
              </a:rPr>
              <a:t>&lt;Analyzing Page&gt;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82800" y="8496300"/>
            <a:ext cx="61214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500" b="0" i="0" u="none" strike="noStrike" spc="-300">
                <a:solidFill>
                  <a:srgbClr val="212121"/>
                </a:solidFill>
                <a:latin typeface="Pretendard Light"/>
              </a:rPr>
              <a:t>Choosing by Date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83800" y="8394700"/>
            <a:ext cx="61214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500" b="0" i="0" u="none" strike="noStrike" spc="-300">
                <a:solidFill>
                  <a:srgbClr val="212121"/>
                </a:solidFill>
                <a:latin typeface="Pretendard Light"/>
              </a:rPr>
              <a:t>Choosing Manually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711200"/>
            <a:ext cx="1085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>
                <a:solidFill>
                  <a:srgbClr val="55855B"/>
                </a:solidFill>
                <a:latin typeface="Pretendard Bold"/>
              </a:rPr>
              <a:t>02. Progress - UX / UI Design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650" y="3054350"/>
            <a:ext cx="7378700" cy="5359400"/>
          </a:xfrm>
          <a:prstGeom prst="rect">
            <a:avLst/>
          </a:prstGeom>
          <a:effectLst>
            <a:outerShdw blurRad="285748" dist="123611" dir="2700000">
              <a:srgbClr val="000000">
                <a:alpha val="50000"/>
              </a:srgbClr>
            </a:outerShdw>
          </a:effectLst>
        </p:spPr>
      </p:pic>
      <p:sp>
        <p:nvSpPr>
          <p:cNvPr id="6" name="TextBox 6"/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62800" y="1752600"/>
            <a:ext cx="3962400" cy="711200"/>
          </a:xfrm>
          <a:prstGeom prst="rect">
            <a:avLst/>
          </a:prstGeom>
          <a:effectLst>
            <a:outerShdw blurRad="131703" dist="7620" dir="2700000">
              <a:srgbClr val="787878">
                <a:alpha val="20000"/>
              </a:srgbClr>
            </a:outerShdw>
          </a:effectLst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400">
                <a:solidFill>
                  <a:srgbClr val="55855B"/>
                </a:solidFill>
                <a:latin typeface="Pretendard SemiBold"/>
              </a:rPr>
              <a:t>&lt;Analyzing Page&gt;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0" y="4864100"/>
            <a:ext cx="889000" cy="558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0" y="3644900"/>
            <a:ext cx="3365500" cy="2997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3352800"/>
            <a:ext cx="8191500" cy="1270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8293100" y="3670300"/>
            <a:ext cx="76835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800" b="0" i="0" u="none" strike="noStrike">
                <a:solidFill>
                  <a:srgbClr val="000000"/>
                </a:solidFill>
                <a:latin typeface="Pretendard Medium"/>
              </a:rPr>
              <a:t>Utilizing </a:t>
            </a:r>
            <a:r>
              <a:rPr lang="en-US" sz="3800" b="1" i="0" u="none" strike="noStrike">
                <a:solidFill>
                  <a:srgbClr val="55855B"/>
                </a:solidFill>
                <a:latin typeface="Pretendard Medium"/>
              </a:rPr>
              <a:t>React</a:t>
            </a:r>
            <a:r>
              <a:rPr lang="en-US" sz="3800" b="0" i="0" u="none" strike="noStrike">
                <a:solidFill>
                  <a:srgbClr val="000000"/>
                </a:solidFill>
                <a:latin typeface="Pretendard Medium"/>
              </a:rPr>
              <a:t> to build Web pages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98000" y="5334000"/>
            <a:ext cx="54610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1. easy to</a:t>
            </a: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 reuse 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components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55000" y="6426200"/>
            <a:ext cx="77470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2. high performance in </a:t>
            </a: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changing</a:t>
            </a: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 web pages</a:t>
            </a: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222094A8-FCEE-1A65-3822-57330A51E898}"/>
              </a:ext>
            </a:extLst>
          </p:cNvPr>
          <p:cNvSpPr txBox="1"/>
          <p:nvPr/>
        </p:nvSpPr>
        <p:spPr>
          <a:xfrm>
            <a:off x="762000" y="660400"/>
            <a:ext cx="84328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0</a:t>
            </a:r>
            <a:r>
              <a:rPr lang="en-US" sz="3500" b="1" spc="100" dirty="0">
                <a:solidFill>
                  <a:srgbClr val="55855B"/>
                </a:solidFill>
                <a:latin typeface="Pretendard Bold"/>
              </a:rPr>
              <a:t>2</a:t>
            </a: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. Progress – Front-end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700" y="1892300"/>
            <a:ext cx="6172200" cy="3467100"/>
          </a:xfrm>
          <a:prstGeom prst="rect">
            <a:avLst/>
          </a:prstGeom>
          <a:effectLst>
            <a:outerShdw blurRad="119747" dist="53347" dir="2700000">
              <a:srgbClr val="000000">
                <a:alpha val="5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5816600"/>
            <a:ext cx="6172200" cy="3467100"/>
          </a:xfrm>
          <a:prstGeom prst="rect">
            <a:avLst/>
          </a:prstGeom>
          <a:effectLst>
            <a:outerShdw blurRad="119747" dist="53347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7100" y="1892300"/>
            <a:ext cx="6172200" cy="3467100"/>
          </a:xfrm>
          <a:prstGeom prst="rect">
            <a:avLst/>
          </a:prstGeom>
          <a:effectLst>
            <a:outerShdw blurRad="119863" dist="53372" dir="2700000">
              <a:srgbClr val="000000">
                <a:alpha val="50000"/>
              </a:srgbClr>
            </a:outerShdw>
          </a:effectLst>
        </p:spPr>
      </p:pic>
      <p:sp>
        <p:nvSpPr>
          <p:cNvPr id="7" name="TextBox 7"/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93D7C948-5ADF-73E7-010C-46F10E4DA5E6}"/>
              </a:ext>
            </a:extLst>
          </p:cNvPr>
          <p:cNvSpPr txBox="1"/>
          <p:nvPr/>
        </p:nvSpPr>
        <p:spPr>
          <a:xfrm>
            <a:off x="762000" y="660400"/>
            <a:ext cx="84328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0</a:t>
            </a:r>
            <a:r>
              <a:rPr lang="en-US" sz="3500" b="1" spc="100" dirty="0">
                <a:solidFill>
                  <a:srgbClr val="55855B"/>
                </a:solidFill>
                <a:latin typeface="Pretendard Bold"/>
              </a:rPr>
              <a:t>2</a:t>
            </a: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. Progress – Front-end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0" y="4864100"/>
            <a:ext cx="889000" cy="558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352800"/>
            <a:ext cx="8191500" cy="1270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3429000"/>
            <a:ext cx="3365500" cy="3429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8293100" y="3670300"/>
            <a:ext cx="76835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800" b="0" i="0" u="none" strike="noStrike">
                <a:solidFill>
                  <a:srgbClr val="000000"/>
                </a:solidFill>
                <a:latin typeface="Pretendard Medium"/>
              </a:rPr>
              <a:t>For communication with </a:t>
            </a:r>
            <a:r>
              <a:rPr lang="en-US" sz="3800" b="0" i="0" u="none" strike="noStrike">
                <a:solidFill>
                  <a:srgbClr val="55855B"/>
                </a:solidFill>
                <a:latin typeface="Pretendard Medium"/>
              </a:rPr>
              <a:t>Back-end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98000" y="5334000"/>
            <a:ext cx="5740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1. more </a:t>
            </a: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confortable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and </a:t>
            </a: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intuitive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890000" y="6350000"/>
            <a:ext cx="64897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2. provide more </a:t>
            </a: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secure</a:t>
            </a: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 environment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360E658A-80C2-9740-89CA-50DDD955377D}"/>
              </a:ext>
            </a:extLst>
          </p:cNvPr>
          <p:cNvSpPr txBox="1"/>
          <p:nvPr/>
        </p:nvSpPr>
        <p:spPr>
          <a:xfrm>
            <a:off x="762000" y="660400"/>
            <a:ext cx="84328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0</a:t>
            </a:r>
            <a:r>
              <a:rPr lang="en-US" sz="3500" b="1" spc="100" dirty="0">
                <a:solidFill>
                  <a:srgbClr val="55855B"/>
                </a:solidFill>
                <a:latin typeface="Pretendard Bold"/>
              </a:rPr>
              <a:t>2</a:t>
            </a: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. Progress – Front-end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2794000"/>
            <a:ext cx="4381500" cy="6172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600" y="2794000"/>
            <a:ext cx="6172200" cy="3225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49300" y="2794000"/>
            <a:ext cx="3479800" cy="6172200"/>
          </a:xfrm>
          <a:prstGeom prst="rect">
            <a:avLst/>
          </a:prstGeom>
          <a:effectLst>
            <a:outerShdw blurRad="120357" dist="320893" dir="2700000">
              <a:srgbClr val="000000">
                <a:alpha val="2000"/>
              </a:srgbClr>
            </a:outerShdw>
          </a:effectLst>
        </p:spPr>
      </p:pic>
      <p:sp>
        <p:nvSpPr>
          <p:cNvPr id="7" name="TextBox 7"/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66000" y="1714500"/>
            <a:ext cx="3962400" cy="698500"/>
          </a:xfrm>
          <a:prstGeom prst="rect">
            <a:avLst/>
          </a:prstGeom>
          <a:effectLst>
            <a:outerShdw blurRad="131703" dist="7620" dir="2700000">
              <a:srgbClr val="787878">
                <a:alpha val="20000"/>
              </a:srgbClr>
            </a:outerShdw>
          </a:effectLst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400">
                <a:solidFill>
                  <a:srgbClr val="55855B"/>
                </a:solidFill>
                <a:latin typeface="Pretendard SemiBold"/>
              </a:rPr>
              <a:t>ERD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9200" y="1714500"/>
            <a:ext cx="3962400" cy="698500"/>
          </a:xfrm>
          <a:prstGeom prst="rect">
            <a:avLst/>
          </a:prstGeom>
          <a:effectLst>
            <a:outerShdw blurRad="131703" dist="7620" dir="2700000">
              <a:srgbClr val="787878">
                <a:alpha val="20000"/>
              </a:srgbClr>
            </a:outerShdw>
          </a:effectLst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400">
                <a:solidFill>
                  <a:srgbClr val="55855B"/>
                </a:solidFill>
                <a:latin typeface="Pretendard SemiBold"/>
              </a:rPr>
              <a:t>API List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06400" y="1714500"/>
            <a:ext cx="3962400" cy="698500"/>
          </a:xfrm>
          <a:prstGeom prst="rect">
            <a:avLst/>
          </a:prstGeom>
          <a:effectLst>
            <a:outerShdw blurRad="131703" dist="7620" dir="2700000">
              <a:srgbClr val="787878">
                <a:alpha val="20000"/>
              </a:srgbClr>
            </a:outerShdw>
          </a:effectLst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400">
                <a:solidFill>
                  <a:srgbClr val="55855B"/>
                </a:solidFill>
                <a:latin typeface="Pretendard SemiBold"/>
              </a:rPr>
              <a:t>Framework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FAF22E42-3F22-EDDC-9F86-BB5D9658BA2A}"/>
              </a:ext>
            </a:extLst>
          </p:cNvPr>
          <p:cNvSpPr txBox="1"/>
          <p:nvPr/>
        </p:nvSpPr>
        <p:spPr>
          <a:xfrm>
            <a:off x="762000" y="660400"/>
            <a:ext cx="84328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0</a:t>
            </a:r>
            <a:r>
              <a:rPr lang="en-US" sz="3500" b="1" spc="100" dirty="0">
                <a:solidFill>
                  <a:srgbClr val="55855B"/>
                </a:solidFill>
                <a:latin typeface="Pretendard Bold"/>
              </a:rPr>
              <a:t>2</a:t>
            </a: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. Progress – Front-end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AFFED-1BA9-07A7-F910-D0430EA39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CF750357-E154-9EF3-922C-94535237A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5C7C3A5-7A68-F403-9D09-7C4F3D8BD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3335F1F-DE36-7B1E-E5B7-91BE59C0A4FE}"/>
              </a:ext>
            </a:extLst>
          </p:cNvPr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F1C7AC5-1A38-3AF4-FBF7-5F91F068B377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>
            <a:extLst>
              <a:ext uri="{FF2B5EF4-FFF2-40B4-BE49-F238E27FC236}">
                <a16:creationId xmlns:a16="http://schemas.microsoft.com/office/drawing/2014/main" id="{F2CCF238-C25F-5BBB-6DAE-C3ECA06C3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8610600"/>
            <a:ext cx="5562600" cy="660400"/>
          </a:xfrm>
          <a:prstGeom prst="rect">
            <a:avLst/>
          </a:prstGeom>
        </p:spPr>
      </p:pic>
      <p:grpSp>
        <p:nvGrpSpPr>
          <p:cNvPr id="8" name="Group 8">
            <a:extLst>
              <a:ext uri="{FF2B5EF4-FFF2-40B4-BE49-F238E27FC236}">
                <a16:creationId xmlns:a16="http://schemas.microsoft.com/office/drawing/2014/main" id="{47AE61B8-6E30-6ADB-8EF4-BEBB614AEE82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>
            <a:extLst>
              <a:ext uri="{FF2B5EF4-FFF2-40B4-BE49-F238E27FC236}">
                <a16:creationId xmlns:a16="http://schemas.microsoft.com/office/drawing/2014/main" id="{F22B87BE-8B87-7F6F-E562-2CA51C2FA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7300" y="3213100"/>
            <a:ext cx="3949700" cy="26035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A7DB10CE-9697-FFE7-8BB1-66B36E566742}"/>
              </a:ext>
            </a:extLst>
          </p:cNvPr>
          <p:cNvSpPr txBox="1"/>
          <p:nvPr/>
        </p:nvSpPr>
        <p:spPr>
          <a:xfrm>
            <a:off x="6438900" y="3441700"/>
            <a:ext cx="9359900" cy="210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400" b="0" i="0" u="none" strike="noStrike">
                <a:solidFill>
                  <a:srgbClr val="000000">
                    <a:alpha val="85098"/>
                  </a:srgbClr>
                </a:solidFill>
                <a:latin typeface="Pretendard SemiBold"/>
              </a:rPr>
              <a:t>Wellness Conversation Script Dataset</a:t>
            </a:r>
          </a:p>
          <a:p>
            <a:pPr lvl="0" algn="ctr">
              <a:lnSpc>
                <a:spcPct val="116199"/>
              </a:lnSpc>
            </a:pPr>
            <a:r>
              <a:rPr lang="en-US" sz="2100" b="0" i="0" u="none" strike="noStrike">
                <a:solidFill>
                  <a:srgbClr val="000000">
                    <a:alpha val="85098"/>
                  </a:srgbClr>
                </a:solidFill>
                <a:latin typeface="Pretendard Regular"/>
              </a:rPr>
              <a:t>From 16,000 </a:t>
            </a:r>
            <a:r>
              <a:rPr lang="en-US" sz="2100" b="1" i="0" u="none" strike="noStrike">
                <a:solidFill>
                  <a:srgbClr val="55855B">
                    <a:alpha val="85098"/>
                  </a:srgbClr>
                </a:solidFill>
                <a:latin typeface="Pretendard Regular"/>
              </a:rPr>
              <a:t>counsel data</a:t>
            </a:r>
            <a:r>
              <a:rPr lang="en-US" sz="2100" b="0" i="0" u="none" strike="noStrike">
                <a:solidFill>
                  <a:srgbClr val="000000">
                    <a:alpha val="85098"/>
                  </a:srgbClr>
                </a:solidFill>
                <a:latin typeface="Pretendard Regular"/>
              </a:rPr>
              <a:t> received from Gangnam Severance, </a:t>
            </a:r>
          </a:p>
          <a:p>
            <a:pPr lvl="0" algn="ctr">
              <a:lnSpc>
                <a:spcPct val="116199"/>
              </a:lnSpc>
            </a:pPr>
            <a:r>
              <a:rPr lang="en-US" sz="2100" b="1" i="0" u="none" strike="noStrike">
                <a:solidFill>
                  <a:srgbClr val="55855B">
                    <a:alpha val="85098"/>
                  </a:srgbClr>
                </a:solidFill>
                <a:latin typeface="Pretendard Regular"/>
              </a:rPr>
              <a:t>5,232 user utterances</a:t>
            </a:r>
            <a:r>
              <a:rPr lang="en-US" sz="2100" b="0" i="0" u="none" strike="noStrike">
                <a:solidFill>
                  <a:srgbClr val="000000">
                    <a:alpha val="85098"/>
                  </a:srgbClr>
                </a:solidFill>
                <a:latin typeface="Pretendard Regular"/>
              </a:rPr>
              <a:t> were extracted </a:t>
            </a:r>
          </a:p>
          <a:p>
            <a:pPr lvl="0" algn="ctr">
              <a:lnSpc>
                <a:spcPct val="116199"/>
              </a:lnSpc>
            </a:pPr>
            <a:r>
              <a:rPr lang="en-US" sz="2100" b="0" i="0" u="none" strike="noStrike">
                <a:solidFill>
                  <a:srgbClr val="000000">
                    <a:alpha val="85098"/>
                  </a:srgbClr>
                </a:solidFill>
                <a:latin typeface="Pretendard Regular"/>
              </a:rPr>
              <a:t>when the patient himself/herself visited the hospital.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21F5497-50CF-1BB1-7956-88EB838D5C9D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B8B5A443-7C18-1D1E-82BB-7A7CB92D902D}"/>
              </a:ext>
            </a:extLst>
          </p:cNvPr>
          <p:cNvSpPr txBox="1"/>
          <p:nvPr/>
        </p:nvSpPr>
        <p:spPr>
          <a:xfrm>
            <a:off x="2006600" y="6515100"/>
            <a:ext cx="14274800" cy="187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100" b="0" i="0" u="none" strike="noStrike">
                <a:solidFill>
                  <a:srgbClr val="000000">
                    <a:alpha val="85098"/>
                  </a:srgbClr>
                </a:solidFill>
                <a:latin typeface="Pretendard Regular"/>
              </a:rPr>
              <a:t>Depression / Sadness / Loneliness / Anger / Lethargy / Abnormal Emotional Control</a:t>
            </a:r>
          </a:p>
          <a:p>
            <a:pPr lvl="0" algn="ctr">
              <a:lnSpc>
                <a:spcPct val="116199"/>
              </a:lnSpc>
            </a:pPr>
            <a:r>
              <a:rPr lang="en-US" sz="2100" b="0" i="0" u="none" strike="noStrike">
                <a:solidFill>
                  <a:srgbClr val="000000">
                    <a:alpha val="85098"/>
                  </a:srgbClr>
                </a:solidFill>
                <a:latin typeface="Pretendard Regular"/>
              </a:rPr>
              <a:t>Sense of Loss / Loss of Appetite / Increase in Appetite / Insomnia</a:t>
            </a:r>
          </a:p>
          <a:p>
            <a:pPr lvl="0" algn="ctr">
              <a:lnSpc>
                <a:spcPct val="116199"/>
              </a:lnSpc>
            </a:pPr>
            <a:r>
              <a:rPr lang="en-US" sz="2100" b="0" i="0" u="none" strike="noStrike">
                <a:solidFill>
                  <a:srgbClr val="000000">
                    <a:alpha val="85098"/>
                  </a:srgbClr>
                </a:solidFill>
                <a:latin typeface="Pretendard Regular"/>
              </a:rPr>
              <a:t>Nervousness / Fatigue / Feeling of Guilt / Loss of Concentration </a:t>
            </a:r>
          </a:p>
          <a:p>
            <a:pPr lvl="0" algn="ctr">
              <a:lnSpc>
                <a:spcPct val="116199"/>
              </a:lnSpc>
            </a:pPr>
            <a:r>
              <a:rPr lang="en-US" sz="2100" b="0" i="0" u="none" strike="noStrike">
                <a:solidFill>
                  <a:srgbClr val="000000">
                    <a:alpha val="85098"/>
                  </a:srgbClr>
                </a:solidFill>
                <a:latin typeface="Pretendard Regular"/>
              </a:rPr>
              <a:t>Decrease in Confidence / Decline in Self-esteem</a:t>
            </a:r>
          </a:p>
          <a:p>
            <a:pPr lvl="0" algn="ctr">
              <a:lnSpc>
                <a:spcPct val="116199"/>
              </a:lnSpc>
            </a:pPr>
            <a:r>
              <a:rPr lang="en-US" sz="2100" b="0" i="0" u="none" strike="noStrike">
                <a:solidFill>
                  <a:srgbClr val="000000">
                    <a:alpha val="85098"/>
                  </a:srgbClr>
                </a:solidFill>
                <a:latin typeface="Pretendard Regular"/>
              </a:rPr>
              <a:t>Feeling of Despair / Suicidal Impulse / Feeling of Insecurity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789DE8E-7961-1629-32A9-567008A9086E}"/>
              </a:ext>
            </a:extLst>
          </p:cNvPr>
          <p:cNvSpPr txBox="1"/>
          <p:nvPr/>
        </p:nvSpPr>
        <p:spPr>
          <a:xfrm>
            <a:off x="5588000" y="8648700"/>
            <a:ext cx="71120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55855B">
                    <a:alpha val="85098"/>
                  </a:srgbClr>
                </a:solidFill>
                <a:latin typeface="Pretendard Bold"/>
              </a:rPr>
              <a:t>19 emotional labels in total</a:t>
            </a:r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0F6215CB-892A-1019-17A4-872D33262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0" y="1701800"/>
            <a:ext cx="4800600" cy="1130300"/>
          </a:xfrm>
          <a:prstGeom prst="rect">
            <a:avLst/>
          </a:prstGeom>
          <a:effectLst>
            <a:outerShdw blurRad="12624" dist="17321" dir="2700000">
              <a:srgbClr val="000000">
                <a:alpha val="30000"/>
              </a:srgbClr>
            </a:outerShdw>
          </a:effectLst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B3ACB301-0262-5723-D6C2-775BE81EE7D5}"/>
              </a:ext>
            </a:extLst>
          </p:cNvPr>
          <p:cNvSpPr txBox="1"/>
          <p:nvPr/>
        </p:nvSpPr>
        <p:spPr>
          <a:xfrm>
            <a:off x="7124700" y="1955800"/>
            <a:ext cx="40386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00" b="0" i="0" u="none" strike="noStrike">
                <a:solidFill>
                  <a:srgbClr val="212121"/>
                </a:solidFill>
                <a:latin typeface="Pretendard SemiBold"/>
              </a:rPr>
              <a:t>Data Collection</a:t>
            </a: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2E734502-72A6-A7D2-83FD-6D000AAF0412}"/>
              </a:ext>
            </a:extLst>
          </p:cNvPr>
          <p:cNvSpPr txBox="1"/>
          <p:nvPr/>
        </p:nvSpPr>
        <p:spPr>
          <a:xfrm>
            <a:off x="762000" y="660400"/>
            <a:ext cx="84328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0</a:t>
            </a:r>
            <a:r>
              <a:rPr lang="en-US" sz="3500" b="1" spc="100" dirty="0">
                <a:solidFill>
                  <a:srgbClr val="55855B"/>
                </a:solidFill>
                <a:latin typeface="Pretendard Bold"/>
              </a:rPr>
              <a:t>2</a:t>
            </a: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. </a:t>
            </a:r>
            <a:r>
              <a:rPr lang="en-US" sz="3500" b="1" spc="100" dirty="0">
                <a:solidFill>
                  <a:srgbClr val="55855B"/>
                </a:solidFill>
                <a:latin typeface="Pretendard Bold"/>
              </a:rPr>
              <a:t>Datasets - AI</a:t>
            </a:r>
            <a:endParaRPr lang="en-US" sz="3500" b="1" i="0" u="none" strike="noStrike" spc="100" dirty="0">
              <a:solidFill>
                <a:srgbClr val="55855B"/>
              </a:solidFill>
              <a:latin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3064422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DACA0-3566-C8CF-BF23-A7651FA47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D5B2FD4-74B3-0020-C137-69A2FE5FF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4E4E66A-A44B-4251-1C14-BAAE0556C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2E4D3F8-6716-E58A-8A33-0F71D3067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66900"/>
            <a:ext cx="9131300" cy="45720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AE0E04ED-33F7-5E23-886B-8428319152B6}"/>
              </a:ext>
            </a:extLst>
          </p:cNvPr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CF4600DA-C1E7-51EE-FC8D-ECBE522531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400" y="7150100"/>
            <a:ext cx="10109200" cy="12700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D42FBB5F-B2B6-01B6-5974-6C5E454CAED6}"/>
              </a:ext>
            </a:extLst>
          </p:cNvPr>
          <p:cNvSpPr txBox="1"/>
          <p:nvPr/>
        </p:nvSpPr>
        <p:spPr>
          <a:xfrm>
            <a:off x="4203700" y="7467600"/>
            <a:ext cx="98806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00" b="0" i="0" u="none" strike="noStrike">
                <a:solidFill>
                  <a:srgbClr val="000000"/>
                </a:solidFill>
                <a:latin typeface="Pretendard Medium"/>
              </a:rPr>
              <a:t>A version of</a:t>
            </a:r>
            <a:r>
              <a:rPr lang="en-US" sz="3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en-US" sz="3800" b="0" i="0" u="none" strike="noStrike">
                <a:solidFill>
                  <a:srgbClr val="55855B"/>
                </a:solidFill>
                <a:latin typeface="Pretendard SemiBold"/>
              </a:rPr>
              <a:t>BERT fine-tuned for Korean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E25DB8BF-1CEA-71E7-7EA6-3CC6286191A6}"/>
              </a:ext>
            </a:extLst>
          </p:cNvPr>
          <p:cNvSpPr txBox="1"/>
          <p:nvPr/>
        </p:nvSpPr>
        <p:spPr>
          <a:xfrm>
            <a:off x="762000" y="660400"/>
            <a:ext cx="84328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0</a:t>
            </a:r>
            <a:r>
              <a:rPr lang="en-US" sz="3500" b="1" spc="100" dirty="0">
                <a:solidFill>
                  <a:srgbClr val="55855B"/>
                </a:solidFill>
                <a:latin typeface="Pretendard Bold"/>
              </a:rPr>
              <a:t>2</a:t>
            </a: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. </a:t>
            </a:r>
            <a:r>
              <a:rPr lang="en-US" sz="3500" b="1" spc="100" dirty="0">
                <a:solidFill>
                  <a:srgbClr val="55855B"/>
                </a:solidFill>
                <a:latin typeface="Pretendard Bold"/>
              </a:rPr>
              <a:t>Model description - AI</a:t>
            </a:r>
            <a:endParaRPr lang="en-US" sz="3500" b="1" i="0" u="none" strike="noStrike" spc="100" dirty="0">
              <a:solidFill>
                <a:srgbClr val="55855B"/>
              </a:solidFill>
              <a:latin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1599157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63390-4919-8DDC-157A-871D038BE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166A7F2-B2A8-F26B-7B5B-E8F16B20B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C2592C3-11D4-5B9B-357A-58D6BE069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798C55EE-DCCF-DDDD-9E14-6B09A642905D}"/>
              </a:ext>
            </a:extLst>
          </p:cNvPr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1D29328F-09C4-7414-9587-61A080A13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1866900"/>
            <a:ext cx="10833100" cy="73025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BE1E8AAD-113B-C876-4329-4AD6EF640695}"/>
              </a:ext>
            </a:extLst>
          </p:cNvPr>
          <p:cNvSpPr txBox="1"/>
          <p:nvPr/>
        </p:nvSpPr>
        <p:spPr>
          <a:xfrm>
            <a:off x="7937500" y="2260600"/>
            <a:ext cx="24130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5000" b="0" i="0" u="none" strike="noStrike">
                <a:solidFill>
                  <a:srgbClr val="000000">
                    <a:alpha val="85098"/>
                  </a:srgbClr>
                </a:solidFill>
                <a:latin typeface="Pretendard Bold"/>
              </a:rPr>
              <a:t>Why?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0424513-CC2E-5611-F9B2-AD5B5F0254EA}"/>
              </a:ext>
            </a:extLst>
          </p:cNvPr>
          <p:cNvSpPr txBox="1"/>
          <p:nvPr/>
        </p:nvSpPr>
        <p:spPr>
          <a:xfrm>
            <a:off x="3048000" y="3771900"/>
            <a:ext cx="122047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000000">
                    <a:alpha val="85098"/>
                  </a:srgbClr>
                </a:solidFill>
                <a:latin typeface="Pretendard Bold"/>
              </a:rPr>
              <a:t>BERT</a:t>
            </a:r>
          </a:p>
          <a:p>
            <a:pPr lvl="0" algn="ctr">
              <a:lnSpc>
                <a:spcPct val="116199"/>
              </a:lnSpc>
            </a:pPr>
            <a:r>
              <a:rPr lang="en-US" sz="3000" b="1" i="0" u="none" strike="noStrike">
                <a:solidFill>
                  <a:srgbClr val="55855B">
                    <a:alpha val="85098"/>
                  </a:srgbClr>
                </a:solidFill>
                <a:latin typeface="Pretendard Regular"/>
              </a:rPr>
              <a:t>Bidirectional </a:t>
            </a:r>
            <a:r>
              <a:rPr lang="en-US" sz="3000" b="0" i="0" u="none" strike="noStrike">
                <a:solidFill>
                  <a:srgbClr val="000000">
                    <a:alpha val="85098"/>
                  </a:srgbClr>
                </a:solidFill>
                <a:latin typeface="Pretendard Regular"/>
              </a:rPr>
              <a:t>to understand context </a:t>
            </a:r>
          </a:p>
          <a:p>
            <a:pPr lvl="0" algn="ct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000000">
                    <a:alpha val="85098"/>
                  </a:srgbClr>
                </a:solidFill>
                <a:latin typeface="Pretendard Regular"/>
              </a:rPr>
              <a:t>back and forth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2AB5F6F-F27F-6789-0623-0FF88C691728}"/>
              </a:ext>
            </a:extLst>
          </p:cNvPr>
          <p:cNvSpPr txBox="1"/>
          <p:nvPr/>
        </p:nvSpPr>
        <p:spPr>
          <a:xfrm>
            <a:off x="5016500" y="6883400"/>
            <a:ext cx="82677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000000">
                    <a:alpha val="85098"/>
                  </a:srgbClr>
                </a:solidFill>
                <a:latin typeface="Pretendard Bold"/>
              </a:rPr>
              <a:t>KoBERT</a:t>
            </a:r>
          </a:p>
          <a:p>
            <a:pPr lvl="0" algn="ctr">
              <a:lnSpc>
                <a:spcPct val="116199"/>
              </a:lnSpc>
            </a:pPr>
            <a:r>
              <a:rPr lang="en-US" sz="3000" b="1" i="0" u="none" strike="noStrike">
                <a:solidFill>
                  <a:srgbClr val="55855B">
                    <a:alpha val="85098"/>
                  </a:srgbClr>
                </a:solidFill>
                <a:latin typeface="Pretendard Regular"/>
              </a:rPr>
              <a:t>Optimized for Korean </a:t>
            </a:r>
          </a:p>
          <a:p>
            <a:pPr lvl="0" algn="ct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000000">
                    <a:alpha val="85098"/>
                  </a:srgbClr>
                </a:solidFill>
                <a:latin typeface="Pretendard Regular"/>
              </a:rPr>
              <a:t>reflecting irregular language changes in Korean</a:t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4E427530-075F-E00F-C4CD-5E9761176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4900" y="5651500"/>
            <a:ext cx="838200" cy="8382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A4337312-346F-24FC-92F2-17D9B39671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900" y="3657600"/>
            <a:ext cx="8724900" cy="17907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A6DDCD17-2CA9-FCEB-E34B-9C5EEFED40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900" y="6807200"/>
            <a:ext cx="8724900" cy="1790700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E16DB09B-38F5-282F-858B-8027DD7655F0}"/>
              </a:ext>
            </a:extLst>
          </p:cNvPr>
          <p:cNvSpPr txBox="1"/>
          <p:nvPr/>
        </p:nvSpPr>
        <p:spPr>
          <a:xfrm>
            <a:off x="762000" y="660400"/>
            <a:ext cx="84328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0</a:t>
            </a:r>
            <a:r>
              <a:rPr lang="en-US" sz="3500" b="1" spc="100" dirty="0">
                <a:solidFill>
                  <a:srgbClr val="55855B"/>
                </a:solidFill>
                <a:latin typeface="Pretendard Bold"/>
              </a:rPr>
              <a:t>2</a:t>
            </a: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. </a:t>
            </a:r>
            <a:r>
              <a:rPr lang="en-US" sz="3500" b="1" spc="100" dirty="0">
                <a:solidFill>
                  <a:srgbClr val="55855B"/>
                </a:solidFill>
                <a:latin typeface="Pretendard Bold"/>
              </a:rPr>
              <a:t>Model description - AI</a:t>
            </a:r>
            <a:endParaRPr lang="en-US" sz="3500" b="1" i="0" u="none" strike="noStrike" spc="100" dirty="0">
              <a:solidFill>
                <a:srgbClr val="55855B"/>
              </a:solidFill>
              <a:latin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594657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C6084-74CC-A988-A2B2-1193A0957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83BBADA-DB36-46C3-4236-46C59EBAF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4B6F5B9-DB2A-FF0D-B5BA-34C0102D0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035D0EE0-3C9B-50FA-1A43-B9239B9AF235}"/>
              </a:ext>
            </a:extLst>
          </p:cNvPr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46512A4-5BA5-F0E2-CB68-E6D287D0C0C9}"/>
              </a:ext>
            </a:extLst>
          </p:cNvPr>
          <p:cNvSpPr txBox="1"/>
          <p:nvPr/>
        </p:nvSpPr>
        <p:spPr>
          <a:xfrm>
            <a:off x="762000" y="660400"/>
            <a:ext cx="84328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0</a:t>
            </a:r>
            <a:r>
              <a:rPr lang="en-US" sz="3500" b="1" spc="100" dirty="0">
                <a:solidFill>
                  <a:srgbClr val="55855B"/>
                </a:solidFill>
                <a:latin typeface="Pretendard Bold"/>
              </a:rPr>
              <a:t>2</a:t>
            </a: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. Data augmentation - AI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8592371D-BB96-9A62-6E89-9C4D7627A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4318000"/>
            <a:ext cx="10299700" cy="41529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24703E68-2871-AA1D-0819-C39386218985}"/>
              </a:ext>
            </a:extLst>
          </p:cNvPr>
          <p:cNvSpPr txBox="1"/>
          <p:nvPr/>
        </p:nvSpPr>
        <p:spPr>
          <a:xfrm>
            <a:off x="4521200" y="2324100"/>
            <a:ext cx="924560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500" b="1" i="0" u="none" strike="noStrike">
                <a:solidFill>
                  <a:srgbClr val="FFFFFF"/>
                </a:solidFill>
                <a:highlight>
                  <a:srgbClr val="55855B"/>
                </a:highlight>
                <a:latin typeface="Pretendard Medium"/>
              </a:rPr>
              <a:t>Imbalance</a:t>
            </a:r>
            <a:r>
              <a:rPr lang="en-US" sz="4500" b="0" i="0" u="none" strike="noStrike">
                <a:solidFill>
                  <a:srgbClr val="000000"/>
                </a:solidFill>
                <a:latin typeface="Pretendard Medium"/>
              </a:rPr>
              <a:t> in the number </a:t>
            </a:r>
          </a:p>
          <a:p>
            <a:pPr lvl="0" algn="ctr">
              <a:lnSpc>
                <a:spcPct val="116199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Pretendard Medium"/>
              </a:rPr>
              <a:t>of utterances by emotion label</a:t>
            </a:r>
          </a:p>
        </p:txBody>
      </p:sp>
    </p:spTree>
    <p:extLst>
      <p:ext uri="{BB962C8B-B14F-4D97-AF65-F5344CB8AC3E}">
        <p14:creationId xmlns:p14="http://schemas.microsoft.com/office/powerpoint/2010/main" val="2081995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67814-9BE3-6B25-2A9F-0D3B89842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D542194-ED75-391C-B142-0C7268B2C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66A6E46-C4F9-4C77-D1B9-A35711A6D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45B3D7B-6B2F-DE92-2D1D-1EA87B303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600" y="4368800"/>
            <a:ext cx="533400" cy="50673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23C5EE02-595A-EFB7-62B7-04E6962B2E3A}"/>
              </a:ext>
            </a:extLst>
          </p:cNvPr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EA43A07-3945-5A18-D55D-5C63CAB69F5C}"/>
              </a:ext>
            </a:extLst>
          </p:cNvPr>
          <p:cNvSpPr txBox="1"/>
          <p:nvPr/>
        </p:nvSpPr>
        <p:spPr>
          <a:xfrm>
            <a:off x="762000" y="660400"/>
            <a:ext cx="84328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0</a:t>
            </a:r>
            <a:r>
              <a:rPr lang="en-US" sz="3500" b="1" spc="100" dirty="0">
                <a:solidFill>
                  <a:srgbClr val="55855B"/>
                </a:solidFill>
                <a:latin typeface="Pretendard Bold"/>
              </a:rPr>
              <a:t>2</a:t>
            </a: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. Data augmentation - AI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3771C43A-8957-1686-BB77-82FBC5766C14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CA1F6998-1D01-6B79-5AAA-26B905599514}"/>
              </a:ext>
            </a:extLst>
          </p:cNvPr>
          <p:cNvGraphicFramePr>
            <a:graphicFrameLocks noGrp="1"/>
          </p:cNvGraphicFramePr>
          <p:nvPr/>
        </p:nvGraphicFramePr>
        <p:xfrm>
          <a:off x="1663700" y="1790700"/>
          <a:ext cx="5803900" cy="1689100"/>
        </p:xfrm>
        <a:graphic>
          <a:graphicData uri="http://schemas.openxmlformats.org/drawingml/2006/table">
            <a:tbl>
              <a:tblPr/>
              <a:tblGrid>
                <a:gridCol w="293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500" b="0" i="0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nervous</a:t>
                      </a:r>
                      <a:endParaRPr lang="en-US" sz="1100"/>
                    </a:p>
                  </a:txBody>
                  <a:tcPr marL="19050" marR="19050" marT="19050" marB="19050" anchor="ctr">
                    <a:lnL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500" b="0" i="0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3049</a:t>
                      </a:r>
                      <a:endParaRPr lang="en-US" sz="1100"/>
                    </a:p>
                  </a:txBody>
                  <a:tcPr marL="19050" marR="19050" marT="19050" marB="19050" anchor="ctr">
                    <a:lnL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500" b="0" i="0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insomnia</a:t>
                      </a:r>
                      <a:endParaRPr lang="en-US" sz="1100"/>
                    </a:p>
                  </a:txBody>
                  <a:tcPr marL="19050" marR="19050" marT="19050" marB="19050" anchor="ctr">
                    <a:lnL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500" b="0" i="0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2317</a:t>
                      </a:r>
                      <a:endParaRPr lang="en-US" sz="1100"/>
                    </a:p>
                  </a:txBody>
                  <a:tcPr marL="19050" marR="19050" marT="19050" marB="19050" anchor="ctr">
                    <a:lnL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500" b="0" i="0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sadness</a:t>
                      </a:r>
                      <a:endParaRPr lang="en-US" sz="1100"/>
                    </a:p>
                  </a:txBody>
                  <a:tcPr marL="19050" marR="19050" marT="19050" marB="19050" anchor="ctr">
                    <a:lnL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500" b="0" i="0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2150</a:t>
                      </a:r>
                      <a:endParaRPr lang="en-US" sz="1100"/>
                    </a:p>
                  </a:txBody>
                  <a:tcPr marL="19050" marR="19050" marT="19050" marB="19050" anchor="ctr">
                    <a:lnL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4463ED7D-C2ED-AA7D-2517-C9318AF61371}"/>
              </a:ext>
            </a:extLst>
          </p:cNvPr>
          <p:cNvGraphicFramePr>
            <a:graphicFrameLocks noGrp="1"/>
          </p:cNvGraphicFramePr>
          <p:nvPr/>
        </p:nvGraphicFramePr>
        <p:xfrm>
          <a:off x="1663700" y="4368800"/>
          <a:ext cx="5803900" cy="5041900"/>
        </p:xfrm>
        <a:graphic>
          <a:graphicData uri="http://schemas.openxmlformats.org/drawingml/2006/table">
            <a:tbl>
              <a:tblPr/>
              <a:tblGrid>
                <a:gridCol w="293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500" b="0" i="0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loneliness</a:t>
                      </a:r>
                      <a:endParaRPr lang="en-US" sz="1100"/>
                    </a:p>
                  </a:txBody>
                  <a:tcPr marL="19050" marR="19050" marT="19050" marB="19050" anchor="ctr">
                    <a:lnL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500" b="0" i="0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956</a:t>
                      </a:r>
                      <a:endParaRPr lang="en-US" sz="1100"/>
                    </a:p>
                  </a:txBody>
                  <a:tcPr marL="19050" marR="19050" marT="19050" marB="19050" anchor="ctr">
                    <a:lnL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500" b="0" i="0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hopeless</a:t>
                      </a:r>
                      <a:endParaRPr lang="en-US" sz="1100"/>
                    </a:p>
                  </a:txBody>
                  <a:tcPr marL="19050" marR="19050" marT="19050" marB="19050" anchor="ctr">
                    <a:lnL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500" b="0" i="0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887</a:t>
                      </a:r>
                      <a:endParaRPr lang="en-US" sz="1100"/>
                    </a:p>
                  </a:txBody>
                  <a:tcPr marL="19050" marR="19050" marT="19050" marB="19050" anchor="ctr">
                    <a:lnL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500" b="0" i="0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suicidal</a:t>
                      </a:r>
                      <a:endParaRPr lang="en-US" sz="1100"/>
                    </a:p>
                  </a:txBody>
                  <a:tcPr marL="19050" marR="19050" marT="19050" marB="19050" anchor="ctr">
                    <a:lnL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500" b="0" i="0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727</a:t>
                      </a:r>
                      <a:endParaRPr lang="en-US" sz="1100"/>
                    </a:p>
                  </a:txBody>
                  <a:tcPr marL="19050" marR="19050" marT="19050" marB="19050" anchor="ctr">
                    <a:lnL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500" b="0" i="0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appetite↑</a:t>
                      </a:r>
                      <a:endParaRPr lang="en-US" sz="1100"/>
                    </a:p>
                  </a:txBody>
                  <a:tcPr marL="19050" marR="19050" marT="19050" marB="19050" anchor="ctr">
                    <a:lnL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500" b="0" i="0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540</a:t>
                      </a:r>
                      <a:endParaRPr lang="en-US" sz="1100"/>
                    </a:p>
                  </a:txBody>
                  <a:tcPr marL="19050" marR="19050" marT="19050" marB="19050" anchor="ctr">
                    <a:lnL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500" b="0" i="0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concentration↓</a:t>
                      </a:r>
                      <a:endParaRPr lang="en-US" sz="1100"/>
                    </a:p>
                  </a:txBody>
                  <a:tcPr marL="19050" marR="19050" marT="19050" marB="19050" anchor="ctr">
                    <a:lnL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500" b="0" i="0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458</a:t>
                      </a:r>
                      <a:endParaRPr lang="en-US" sz="1100"/>
                    </a:p>
                  </a:txBody>
                  <a:tcPr marL="19050" marR="19050" marT="19050" marB="19050" anchor="ctr">
                    <a:lnL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500" b="0" i="0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confidence↓</a:t>
                      </a:r>
                      <a:endParaRPr lang="en-US" sz="1100"/>
                    </a:p>
                  </a:txBody>
                  <a:tcPr marL="19050" marR="19050" marT="19050" marB="19050" anchor="ctr">
                    <a:lnL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500" b="0" i="0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445</a:t>
                      </a:r>
                      <a:endParaRPr lang="en-US" sz="1100"/>
                    </a:p>
                  </a:txBody>
                  <a:tcPr marL="19050" marR="19050" marT="19050" marB="19050" anchor="ctr">
                    <a:lnL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500" b="0" i="0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loss</a:t>
                      </a:r>
                      <a:endParaRPr lang="en-US" sz="1100"/>
                    </a:p>
                  </a:txBody>
                  <a:tcPr marL="19050" marR="19050" marT="19050" marB="19050" anchor="ctr">
                    <a:lnL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500" b="0" i="0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439</a:t>
                      </a:r>
                      <a:endParaRPr lang="en-US" sz="1100"/>
                    </a:p>
                  </a:txBody>
                  <a:tcPr marL="19050" marR="19050" marT="19050" marB="19050" anchor="ctr">
                    <a:lnL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500" b="0" i="0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emotion control↓</a:t>
                      </a:r>
                      <a:endParaRPr lang="en-US" sz="1100"/>
                    </a:p>
                  </a:txBody>
                  <a:tcPr marL="19050" marR="19050" marT="19050" marB="19050" anchor="ctr">
                    <a:lnL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500" b="0" i="0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389</a:t>
                      </a:r>
                      <a:endParaRPr lang="en-US" sz="1100"/>
                    </a:p>
                  </a:txBody>
                  <a:tcPr marL="19050" marR="19050" marT="19050" marB="19050" anchor="ctr">
                    <a:lnL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4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10">
            <a:extLst>
              <a:ext uri="{FF2B5EF4-FFF2-40B4-BE49-F238E27FC236}">
                <a16:creationId xmlns:a16="http://schemas.microsoft.com/office/drawing/2014/main" id="{D13CF4E5-8AF6-62D0-5097-84BC4360940C}"/>
              </a:ext>
            </a:extLst>
          </p:cNvPr>
          <p:cNvSpPr txBox="1"/>
          <p:nvPr/>
        </p:nvSpPr>
        <p:spPr>
          <a:xfrm>
            <a:off x="1663700" y="3479800"/>
            <a:ext cx="5715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>
                <a:solidFill>
                  <a:srgbClr val="55855B"/>
                </a:solidFill>
                <a:latin typeface="Pretendard Bold"/>
              </a:rPr>
              <a:t>...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58968AD-879F-050B-32BD-27F3B2EADCC8}"/>
              </a:ext>
            </a:extLst>
          </p:cNvPr>
          <p:cNvSpPr txBox="1"/>
          <p:nvPr/>
        </p:nvSpPr>
        <p:spPr>
          <a:xfrm>
            <a:off x="9093200" y="3975100"/>
            <a:ext cx="8305800" cy="240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500" b="1" i="0" u="none" strike="noStrike">
                <a:solidFill>
                  <a:srgbClr val="FFFFFF"/>
                </a:solidFill>
                <a:highlight>
                  <a:srgbClr val="55855B"/>
                </a:highlight>
                <a:latin typeface="Pretendard Medium"/>
              </a:rPr>
              <a:t>Data Augmentation</a:t>
            </a:r>
            <a:r>
              <a:rPr lang="en-US" sz="4500" b="1" i="0" u="none" strike="noStrike">
                <a:solidFill>
                  <a:srgbClr val="FFFFFF"/>
                </a:solidFill>
                <a:latin typeface="Pretendard Medium"/>
              </a:rPr>
              <a:t> </a:t>
            </a:r>
          </a:p>
          <a:p>
            <a:pPr lvl="0" algn="ctr">
              <a:lnSpc>
                <a:spcPct val="116199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Pretendard Medium"/>
              </a:rPr>
              <a:t>for </a:t>
            </a:r>
            <a:r>
              <a:rPr lang="en-US" sz="4500" b="1" i="0" u="none" strike="noStrike">
                <a:solidFill>
                  <a:srgbClr val="55855B"/>
                </a:solidFill>
                <a:latin typeface="Pretendard Medium"/>
              </a:rPr>
              <a:t>8</a:t>
            </a:r>
            <a:r>
              <a:rPr lang="en-US" sz="4500" b="0" i="0" u="none" strike="noStrike">
                <a:solidFill>
                  <a:srgbClr val="000000"/>
                </a:solidFill>
                <a:latin typeface="Pretendard Medium"/>
              </a:rPr>
              <a:t> emotions </a:t>
            </a:r>
          </a:p>
          <a:p>
            <a:pPr lvl="0" algn="ctr">
              <a:lnSpc>
                <a:spcPct val="116199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Pretendard Medium"/>
              </a:rPr>
              <a:t>with less than </a:t>
            </a:r>
            <a:r>
              <a:rPr lang="en-US" sz="4500" b="1" i="0" u="none" strike="noStrike">
                <a:solidFill>
                  <a:srgbClr val="55855B"/>
                </a:solidFill>
                <a:latin typeface="Pretendard Medium"/>
              </a:rPr>
              <a:t>1000</a:t>
            </a:r>
            <a:r>
              <a:rPr lang="en-US" sz="4500" b="0" i="0" u="none" strike="noStrike">
                <a:solidFill>
                  <a:srgbClr val="000000"/>
                </a:solidFill>
                <a:latin typeface="Pretendard Medium"/>
              </a:rPr>
              <a:t> utterances</a:t>
            </a:r>
          </a:p>
        </p:txBody>
      </p:sp>
    </p:spTree>
    <p:extLst>
      <p:ext uri="{BB962C8B-B14F-4D97-AF65-F5344CB8AC3E}">
        <p14:creationId xmlns:p14="http://schemas.microsoft.com/office/powerpoint/2010/main" val="500277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19B3C-B45C-C449-718D-56DD588DF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FA62110-A417-23DC-069E-E9FF66D88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5806944-5059-8629-B95C-C9AFBACF3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8F583578-FB96-77D5-3BD0-7A812D3B07BF}"/>
              </a:ext>
            </a:extLst>
          </p:cNvPr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50A4048-7A77-EC31-8A32-A3DF2559F0BA}"/>
              </a:ext>
            </a:extLst>
          </p:cNvPr>
          <p:cNvSpPr txBox="1"/>
          <p:nvPr/>
        </p:nvSpPr>
        <p:spPr>
          <a:xfrm>
            <a:off x="762000" y="660400"/>
            <a:ext cx="84328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0</a:t>
            </a:r>
            <a:r>
              <a:rPr lang="en-US" sz="3500" b="1" spc="100" dirty="0">
                <a:solidFill>
                  <a:srgbClr val="55855B"/>
                </a:solidFill>
                <a:latin typeface="Pretendard Bold"/>
              </a:rPr>
              <a:t>2</a:t>
            </a: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. Data augmentation - AI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CCD2AECC-981D-AD9A-3752-1CA4B584A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784600"/>
            <a:ext cx="10960100" cy="28067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21E23DF9-598F-0D8A-B9F8-E7973EDBF992}"/>
              </a:ext>
            </a:extLst>
          </p:cNvPr>
          <p:cNvSpPr txBox="1"/>
          <p:nvPr/>
        </p:nvSpPr>
        <p:spPr>
          <a:xfrm>
            <a:off x="7658100" y="1955800"/>
            <a:ext cx="30607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800" b="1" i="0" u="none" strike="noStrike">
                <a:solidFill>
                  <a:srgbClr val="FFFFFF"/>
                </a:solidFill>
                <a:highlight>
                  <a:srgbClr val="55855B"/>
                </a:highlight>
                <a:latin typeface="Pretendard Medium"/>
              </a:rPr>
              <a:t>&lt; ELECTRA &gt;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B4952E8-C09C-5A82-910A-48FA7976E649}"/>
              </a:ext>
            </a:extLst>
          </p:cNvPr>
          <p:cNvSpPr txBox="1"/>
          <p:nvPr/>
        </p:nvSpPr>
        <p:spPr>
          <a:xfrm>
            <a:off x="1257300" y="7226300"/>
            <a:ext cx="15773400" cy="157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Replaced Token Detection</a:t>
            </a: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 (RTD): Binary classification problem </a:t>
            </a:r>
          </a:p>
          <a:p>
            <a:pPr lvl="0" algn="ct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where </a:t>
            </a: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generator</a:t>
            </a: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 turns some of the tokens into a plausible fake token </a:t>
            </a:r>
          </a:p>
          <a:p>
            <a:pPr lvl="0" algn="ct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and </a:t>
            </a: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discriminator</a:t>
            </a: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 guesses whether each token is a</a:t>
            </a: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 real</a:t>
            </a: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 or a </a:t>
            </a: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replaced</a:t>
            </a: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 token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0A6674F-C364-AE72-6BCA-F01C6AE53814}"/>
              </a:ext>
            </a:extLst>
          </p:cNvPr>
          <p:cNvSpPr txBox="1"/>
          <p:nvPr/>
        </p:nvSpPr>
        <p:spPr>
          <a:xfrm>
            <a:off x="1257300" y="2730500"/>
            <a:ext cx="15773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E</a:t>
            </a: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fficiently </a:t>
            </a: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L</a:t>
            </a: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earning an </a:t>
            </a: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E</a:t>
            </a: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ncoder that </a:t>
            </a: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C</a:t>
            </a: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lassifies </a:t>
            </a: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T</a:t>
            </a: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oken </a:t>
            </a: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R</a:t>
            </a: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eplacements </a:t>
            </a: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A</a:t>
            </a: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ccurately</a:t>
            </a:r>
          </a:p>
        </p:txBody>
      </p:sp>
    </p:spTree>
    <p:extLst>
      <p:ext uri="{BB962C8B-B14F-4D97-AF65-F5344CB8AC3E}">
        <p14:creationId xmlns:p14="http://schemas.microsoft.com/office/powerpoint/2010/main" val="1390130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139E7-77E5-77AC-A627-75EF5080F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2D8069C-0178-6721-97E2-C82502802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778CFF3-688E-BB4F-999F-A060A345A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CA08C902-8808-18B1-3CB8-524AD450D6DE}"/>
              </a:ext>
            </a:extLst>
          </p:cNvPr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110B00E-57FA-5E28-291F-E48799514439}"/>
              </a:ext>
            </a:extLst>
          </p:cNvPr>
          <p:cNvSpPr txBox="1"/>
          <p:nvPr/>
        </p:nvSpPr>
        <p:spPr>
          <a:xfrm>
            <a:off x="762000" y="660400"/>
            <a:ext cx="84328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0</a:t>
            </a:r>
            <a:r>
              <a:rPr lang="en-US" sz="3500" b="1" spc="100" dirty="0">
                <a:solidFill>
                  <a:srgbClr val="55855B"/>
                </a:solidFill>
                <a:latin typeface="Pretendard Bold"/>
              </a:rPr>
              <a:t>2</a:t>
            </a: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. Data augmentation - AI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4D0F085-6AC5-6AE0-C4EE-5FDC2A61D8AB}"/>
              </a:ext>
            </a:extLst>
          </p:cNvPr>
          <p:cNvSpPr txBox="1"/>
          <p:nvPr/>
        </p:nvSpPr>
        <p:spPr>
          <a:xfrm>
            <a:off x="1257300" y="2641600"/>
            <a:ext cx="15773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A natural language model that learns ELECTRA with </a:t>
            </a: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34GB of Korean text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5978EA4-6361-4493-AC5A-F3DF47CA5DD7}"/>
              </a:ext>
            </a:extLst>
          </p:cNvPr>
          <p:cNvSpPr txBox="1"/>
          <p:nvPr/>
        </p:nvSpPr>
        <p:spPr>
          <a:xfrm>
            <a:off x="7378700" y="1866900"/>
            <a:ext cx="36322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800" b="1" i="0" u="none" strike="noStrike">
                <a:solidFill>
                  <a:srgbClr val="FFFFFF"/>
                </a:solidFill>
                <a:highlight>
                  <a:srgbClr val="55855B"/>
                </a:highlight>
                <a:latin typeface="Pretendard Medium"/>
              </a:rPr>
              <a:t>&lt; KoELECTRA &gt;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F860A55A-28CE-8413-00EF-051561C65EA9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>
            <a:extLst>
              <a:ext uri="{FF2B5EF4-FFF2-40B4-BE49-F238E27FC236}">
                <a16:creationId xmlns:a16="http://schemas.microsoft.com/office/drawing/2014/main" id="{CA9AB165-FC5E-7E5E-9433-D8B4B1EDC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300" y="3683000"/>
            <a:ext cx="5245100" cy="52451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BD7B7C28-D337-AA5D-6ED8-01D6549FF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4470400"/>
            <a:ext cx="2387600" cy="28194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EFF0D683-3052-5BF3-3B44-C95DAB6AF530}"/>
              </a:ext>
            </a:extLst>
          </p:cNvPr>
          <p:cNvSpPr txBox="1"/>
          <p:nvPr/>
        </p:nvSpPr>
        <p:spPr>
          <a:xfrm>
            <a:off x="3644900" y="7721600"/>
            <a:ext cx="46228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800" b="1" i="0" u="none" strike="noStrike">
                <a:solidFill>
                  <a:srgbClr val="55855B"/>
                </a:solidFill>
                <a:latin typeface="Pretendard Medium"/>
              </a:rPr>
              <a:t>Korean</a:t>
            </a:r>
            <a:r>
              <a:rPr lang="en-US" sz="3800" b="0" i="0" u="none" strike="noStrike">
                <a:solidFill>
                  <a:srgbClr val="000000"/>
                </a:solidFill>
                <a:latin typeface="Pretendard Medium"/>
              </a:rPr>
              <a:t>-specialized</a:t>
            </a:r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2B4623F1-E47E-81EF-3F77-F7D9D98D1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300" y="3683000"/>
            <a:ext cx="5245100" cy="52451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0952D75D-1BE8-D1AA-9EE3-B23C91E055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5700" y="4470400"/>
            <a:ext cx="2387600" cy="23876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521C88A0-1981-FFB6-1CE1-A8FEFD904CB2}"/>
              </a:ext>
            </a:extLst>
          </p:cNvPr>
          <p:cNvSpPr txBox="1"/>
          <p:nvPr/>
        </p:nvSpPr>
        <p:spPr>
          <a:xfrm>
            <a:off x="10198100" y="7315200"/>
            <a:ext cx="4622800" cy="1358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00" b="0" i="0" u="none" strike="noStrike">
                <a:solidFill>
                  <a:srgbClr val="000000"/>
                </a:solidFill>
                <a:latin typeface="Pretendard Medium"/>
              </a:rPr>
              <a:t>Efficient </a:t>
            </a:r>
            <a:r>
              <a:rPr lang="en-US" sz="3800" b="1" i="0" u="none" strike="noStrike">
                <a:solidFill>
                  <a:srgbClr val="55855B"/>
                </a:solidFill>
                <a:latin typeface="Pretendard Medium"/>
              </a:rPr>
              <a:t>learning structure</a:t>
            </a:r>
          </a:p>
        </p:txBody>
      </p:sp>
    </p:spTree>
    <p:extLst>
      <p:ext uri="{BB962C8B-B14F-4D97-AF65-F5344CB8AC3E}">
        <p14:creationId xmlns:p14="http://schemas.microsoft.com/office/powerpoint/2010/main" val="2050155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107EC-0CEC-C7F8-8C7E-C8F76BBE0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F2252AF-1098-4658-CA7D-755845791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DD46942-4D3F-255C-DD03-6B21C1AB7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DD526495-0656-E5F3-3DE5-536537A87309}"/>
              </a:ext>
            </a:extLst>
          </p:cNvPr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BE0B3A2-274F-8E43-3368-0F79D1612E4D}"/>
              </a:ext>
            </a:extLst>
          </p:cNvPr>
          <p:cNvSpPr txBox="1"/>
          <p:nvPr/>
        </p:nvSpPr>
        <p:spPr>
          <a:xfrm>
            <a:off x="762000" y="660400"/>
            <a:ext cx="84328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0</a:t>
            </a:r>
            <a:r>
              <a:rPr lang="en-US" sz="3500" b="1" spc="100" dirty="0">
                <a:solidFill>
                  <a:srgbClr val="55855B"/>
                </a:solidFill>
                <a:latin typeface="Pretendard Bold"/>
              </a:rPr>
              <a:t>2</a:t>
            </a: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. Data augmentation - AI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0A45A88-A631-4A4D-36E5-43F2330FB840}"/>
              </a:ext>
            </a:extLst>
          </p:cNvPr>
          <p:cNvSpPr txBox="1"/>
          <p:nvPr/>
        </p:nvSpPr>
        <p:spPr>
          <a:xfrm>
            <a:off x="1155700" y="1930400"/>
            <a:ext cx="157861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00" b="0" i="0" u="none" strike="noStrike">
                <a:solidFill>
                  <a:srgbClr val="000000"/>
                </a:solidFill>
                <a:latin typeface="Pretendard Medium"/>
              </a:rPr>
              <a:t>1. Random Masking Replacement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6414BC95-712C-47ED-F158-FBB3C64D4F4F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>
            <a:extLst>
              <a:ext uri="{FF2B5EF4-FFF2-40B4-BE49-F238E27FC236}">
                <a16:creationId xmlns:a16="http://schemas.microsoft.com/office/drawing/2014/main" id="{33E9D6E3-28A7-C87D-05EE-CBB89295F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699500" y="4432300"/>
            <a:ext cx="889000" cy="5588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43EE3407-F141-0FA5-6F5E-56D9BC7EF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699500" y="6870700"/>
            <a:ext cx="889000" cy="5588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B6E800C7-7907-DD89-CEC4-E49418D96AFE}"/>
              </a:ext>
            </a:extLst>
          </p:cNvPr>
          <p:cNvSpPr txBox="1"/>
          <p:nvPr/>
        </p:nvSpPr>
        <p:spPr>
          <a:xfrm>
            <a:off x="1257300" y="3340100"/>
            <a:ext cx="157734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그런데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완전히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죽기에는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3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층이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너무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낮았던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거죠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868E4E2-DF7B-8EF0-51FA-378AF731BADE}"/>
              </a:ext>
            </a:extLst>
          </p:cNvPr>
          <p:cNvSpPr txBox="1"/>
          <p:nvPr/>
        </p:nvSpPr>
        <p:spPr>
          <a:xfrm>
            <a:off x="1257300" y="5651500"/>
            <a:ext cx="157734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그런데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[MASK]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죽기에는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3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층이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너무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낮았던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거죠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6AD66A8-5806-B87D-17CF-85324DDD0718}"/>
              </a:ext>
            </a:extLst>
          </p:cNvPr>
          <p:cNvSpPr txBox="1"/>
          <p:nvPr/>
        </p:nvSpPr>
        <p:spPr>
          <a:xfrm>
            <a:off x="9994900" y="4470400"/>
            <a:ext cx="19939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Randomly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564855F-6318-3280-0B40-C3DEAB46886B}"/>
              </a:ext>
            </a:extLst>
          </p:cNvPr>
          <p:cNvSpPr txBox="1"/>
          <p:nvPr/>
        </p:nvSpPr>
        <p:spPr>
          <a:xfrm>
            <a:off x="9994900" y="6896100"/>
            <a:ext cx="55245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KoELECTRA's </a:t>
            </a: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fill-mask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pipeline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E37F23D-9237-D1FF-3EB5-6980141ED579}"/>
              </a:ext>
            </a:extLst>
          </p:cNvPr>
          <p:cNvSpPr txBox="1"/>
          <p:nvPr/>
        </p:nvSpPr>
        <p:spPr>
          <a:xfrm>
            <a:off x="1257300" y="8166100"/>
            <a:ext cx="157734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그런데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1" i="0" u="none" strike="noStrike">
                <a:solidFill>
                  <a:srgbClr val="55855B"/>
                </a:solidFill>
                <a:ea typeface="Pretendard Medium"/>
              </a:rPr>
              <a:t>이게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죽기에는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3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층이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너무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낮았던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거죠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80034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CE4F7-0F71-B120-D7CF-629D8E248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D0F05D1-7B46-EAB7-54A8-3083B2BDC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A63194C-9E4C-F1C1-C26F-AB4B2C76D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8C728C90-A2F5-38C6-97F7-6620E6D3A59B}"/>
              </a:ext>
            </a:extLst>
          </p:cNvPr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8B51604-8027-F250-BCC6-6B0F8557668A}"/>
              </a:ext>
            </a:extLst>
          </p:cNvPr>
          <p:cNvSpPr txBox="1"/>
          <p:nvPr/>
        </p:nvSpPr>
        <p:spPr>
          <a:xfrm>
            <a:off x="762000" y="660400"/>
            <a:ext cx="84328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0</a:t>
            </a:r>
            <a:r>
              <a:rPr lang="en-US" sz="3500" b="1" spc="100" dirty="0">
                <a:solidFill>
                  <a:srgbClr val="55855B"/>
                </a:solidFill>
                <a:latin typeface="Pretendard Bold"/>
              </a:rPr>
              <a:t>2</a:t>
            </a: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. Data augmentation - AI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5B699BE-FA9C-BEBC-8047-26C946F7A8AC}"/>
              </a:ext>
            </a:extLst>
          </p:cNvPr>
          <p:cNvSpPr txBox="1"/>
          <p:nvPr/>
        </p:nvSpPr>
        <p:spPr>
          <a:xfrm>
            <a:off x="1155700" y="1930400"/>
            <a:ext cx="157861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00" b="0" i="0" u="none" strike="noStrike">
                <a:solidFill>
                  <a:srgbClr val="000000"/>
                </a:solidFill>
                <a:latin typeface="Pretendard Medium"/>
              </a:rPr>
              <a:t>2. Random Masking Insertion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503CE91E-4EFA-B2C1-A453-7550B51CD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699500" y="4432300"/>
            <a:ext cx="889000" cy="558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689E1BF3-22C7-EFED-DC95-4024818E6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699500" y="6870700"/>
            <a:ext cx="889000" cy="5588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2EB85EE0-9265-CB63-62D2-D9BF70C8A6A2}"/>
              </a:ext>
            </a:extLst>
          </p:cNvPr>
          <p:cNvSpPr txBox="1"/>
          <p:nvPr/>
        </p:nvSpPr>
        <p:spPr>
          <a:xfrm>
            <a:off x="1257300" y="3340100"/>
            <a:ext cx="157734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그런데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완전히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죽기에는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3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층이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너무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낮았던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거죠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5480778-A462-D950-9F13-927BDB0FE8FF}"/>
              </a:ext>
            </a:extLst>
          </p:cNvPr>
          <p:cNvSpPr txBox="1"/>
          <p:nvPr/>
        </p:nvSpPr>
        <p:spPr>
          <a:xfrm>
            <a:off x="1257300" y="5651500"/>
            <a:ext cx="157734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그런데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완전히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죽기에는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3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층이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너무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낮았던</a:t>
            </a:r>
            <a:r>
              <a:rPr lang="en-US" sz="3000" b="0" i="0" u="none" strike="noStrike">
                <a:solidFill>
                  <a:srgbClr val="55855B"/>
                </a:solidFill>
                <a:latin typeface="Pretendard Medium"/>
              </a:rPr>
              <a:t> </a:t>
            </a: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[MASK]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거죠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7F1027D-0D4F-66C8-6F5C-830870BBAD96}"/>
              </a:ext>
            </a:extLst>
          </p:cNvPr>
          <p:cNvSpPr txBox="1"/>
          <p:nvPr/>
        </p:nvSpPr>
        <p:spPr>
          <a:xfrm>
            <a:off x="9994900" y="4470400"/>
            <a:ext cx="19939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Randomly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6A47B0F-6A79-EE4E-8C0C-A3C73179B8C5}"/>
              </a:ext>
            </a:extLst>
          </p:cNvPr>
          <p:cNvSpPr txBox="1"/>
          <p:nvPr/>
        </p:nvSpPr>
        <p:spPr>
          <a:xfrm>
            <a:off x="9994900" y="6896100"/>
            <a:ext cx="55245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KoELECTRA's </a:t>
            </a: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fill-mask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pipeline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1C2134F-C63C-14CB-AC81-30BF57FC2387}"/>
              </a:ext>
            </a:extLst>
          </p:cNvPr>
          <p:cNvSpPr txBox="1"/>
          <p:nvPr/>
        </p:nvSpPr>
        <p:spPr>
          <a:xfrm>
            <a:off x="1257300" y="8166100"/>
            <a:ext cx="157734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그런데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완전히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죽기에는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3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층이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너무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낮았던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1" i="0" u="none" strike="noStrike">
                <a:solidFill>
                  <a:srgbClr val="55855B"/>
                </a:solidFill>
                <a:ea typeface="Pretendard Medium"/>
              </a:rPr>
              <a:t>그런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거죠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7992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D6115-F7BB-E323-5459-CFF02316C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4F7762A-BB45-0FEC-0E5B-FCF89ED6D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A209432-D4A8-0ABD-2A76-C44E02C8C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1EDF0B7-9AC8-614A-1E1F-3D08DDC23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006600"/>
            <a:ext cx="6654800" cy="67818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3F56D6AE-7082-39C3-41F6-832F141BAAA5}"/>
              </a:ext>
            </a:extLst>
          </p:cNvPr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A10D581-E6F1-95AE-C559-BFB08A4CE0EA}"/>
              </a:ext>
            </a:extLst>
          </p:cNvPr>
          <p:cNvSpPr txBox="1"/>
          <p:nvPr/>
        </p:nvSpPr>
        <p:spPr>
          <a:xfrm>
            <a:off x="762000" y="660400"/>
            <a:ext cx="84328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0</a:t>
            </a:r>
            <a:r>
              <a:rPr lang="en-US" sz="3500" b="1" spc="100" dirty="0">
                <a:solidFill>
                  <a:srgbClr val="55855B"/>
                </a:solidFill>
                <a:latin typeface="Pretendard Bold"/>
              </a:rPr>
              <a:t>2</a:t>
            </a: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. Data augmentation - AI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BA7C50D-686F-63A3-F0DA-B3FA4318FABB}"/>
              </a:ext>
            </a:extLst>
          </p:cNvPr>
          <p:cNvSpPr txBox="1"/>
          <p:nvPr/>
        </p:nvSpPr>
        <p:spPr>
          <a:xfrm>
            <a:off x="1790700" y="2413000"/>
            <a:ext cx="6756400" cy="1358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00" b="0" i="0" u="none" strike="noStrike">
                <a:solidFill>
                  <a:srgbClr val="000000"/>
                </a:solidFill>
                <a:latin typeface="Pretendard Medium"/>
              </a:rPr>
              <a:t>Random Masking </a:t>
            </a:r>
          </a:p>
          <a:p>
            <a:pPr lvl="0" algn="ctr">
              <a:lnSpc>
                <a:spcPct val="116199"/>
              </a:lnSpc>
            </a:pPr>
            <a:r>
              <a:rPr lang="en-US" sz="3800" b="1" i="0" u="none" strike="noStrike">
                <a:solidFill>
                  <a:srgbClr val="55855B"/>
                </a:solidFill>
                <a:latin typeface="Pretendard Medium"/>
              </a:rPr>
              <a:t>Replacement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16D8C70-1B62-3B3D-6659-C3529067C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200" y="4584700"/>
            <a:ext cx="952500" cy="9525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F5866D7B-9FC3-0479-1773-CF931DD53C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2200" y="6769100"/>
            <a:ext cx="952500" cy="9525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6243A257-5215-22FE-61C2-431F680CEEC0}"/>
              </a:ext>
            </a:extLst>
          </p:cNvPr>
          <p:cNvSpPr txBox="1"/>
          <p:nvPr/>
        </p:nvSpPr>
        <p:spPr>
          <a:xfrm>
            <a:off x="3530600" y="6731000"/>
            <a:ext cx="4432300" cy="1054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Limited semantic change</a:t>
            </a:r>
          </a:p>
          <a:p>
            <a:pPr lvl="0" algn="l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-&gt; Generatesimilar data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D1E6C3B-BA83-D5F1-A5F3-83FB71341F06}"/>
              </a:ext>
            </a:extLst>
          </p:cNvPr>
          <p:cNvSpPr txBox="1"/>
          <p:nvPr/>
        </p:nvSpPr>
        <p:spPr>
          <a:xfrm>
            <a:off x="3530600" y="4330700"/>
            <a:ext cx="4330700" cy="157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Vocabulary diversity</a:t>
            </a:r>
          </a:p>
          <a:p>
            <a:pPr lvl="0" algn="l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-&gt; Different expressions</a:t>
            </a:r>
          </a:p>
          <a:p>
            <a:pPr lvl="0" algn="l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for context </a:t>
            </a:r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B852C6A9-7A10-1D56-FD93-BCA592834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000" y="2006600"/>
            <a:ext cx="6654800" cy="67818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DD7510D1-037D-A91F-8CAA-3B7F486C8E98}"/>
              </a:ext>
            </a:extLst>
          </p:cNvPr>
          <p:cNvSpPr txBox="1"/>
          <p:nvPr/>
        </p:nvSpPr>
        <p:spPr>
          <a:xfrm>
            <a:off x="9982200" y="2413000"/>
            <a:ext cx="6756400" cy="1358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00" b="0" i="0" u="none" strike="noStrike">
                <a:solidFill>
                  <a:srgbClr val="000000"/>
                </a:solidFill>
                <a:latin typeface="Pretendard Medium"/>
              </a:rPr>
              <a:t>Random Masking </a:t>
            </a:r>
          </a:p>
          <a:p>
            <a:pPr lvl="0" algn="ctr">
              <a:lnSpc>
                <a:spcPct val="116199"/>
              </a:lnSpc>
            </a:pPr>
            <a:r>
              <a:rPr lang="en-US" sz="3800" b="1" i="0" u="none" strike="noStrike">
                <a:solidFill>
                  <a:srgbClr val="55855B"/>
                </a:solidFill>
                <a:latin typeface="Pretendard Medium"/>
              </a:rPr>
              <a:t>Insertion</a:t>
            </a:r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AAE0A1CB-3423-ADA2-DEDD-2D6E498FE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3700" y="4584700"/>
            <a:ext cx="952500" cy="9525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0EA90CEB-EDC4-2F56-2220-F9F890F976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3700" y="6769100"/>
            <a:ext cx="952500" cy="9525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3FB72048-5D03-0C12-747A-2F0FCA8C459B}"/>
              </a:ext>
            </a:extLst>
          </p:cNvPr>
          <p:cNvSpPr txBox="1"/>
          <p:nvPr/>
        </p:nvSpPr>
        <p:spPr>
          <a:xfrm>
            <a:off x="11684000" y="4330700"/>
            <a:ext cx="4330700" cy="157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Various expressions</a:t>
            </a:r>
          </a:p>
          <a:p>
            <a:pPr lvl="0" algn="l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-&gt; Can be transformed or emphasized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6457EF6-762D-9427-A250-4C959BE43CAA}"/>
              </a:ext>
            </a:extLst>
          </p:cNvPr>
          <p:cNvSpPr txBox="1"/>
          <p:nvPr/>
        </p:nvSpPr>
        <p:spPr>
          <a:xfrm>
            <a:off x="11722100" y="6477000"/>
            <a:ext cx="5041900" cy="157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Meaning distortion</a:t>
            </a:r>
          </a:p>
          <a:p>
            <a:pPr lvl="0" algn="l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-&gt; Meaning of a sentence can be distorted</a:t>
            </a:r>
          </a:p>
        </p:txBody>
      </p:sp>
    </p:spTree>
    <p:extLst>
      <p:ext uri="{BB962C8B-B14F-4D97-AF65-F5344CB8AC3E}">
        <p14:creationId xmlns:p14="http://schemas.microsoft.com/office/powerpoint/2010/main" val="445507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1E613-AC5A-CB87-410D-A46D19E25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B53FCD9-6969-CF10-5E71-DC0F7554A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1483D92-1F61-B2C8-99F7-B27ACDA42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3662AD6-0936-B7B4-A320-86262C2312A1}"/>
              </a:ext>
            </a:extLst>
          </p:cNvPr>
          <p:cNvGraphicFramePr>
            <a:graphicFrameLocks noGrp="1"/>
          </p:cNvGraphicFramePr>
          <p:nvPr/>
        </p:nvGraphicFramePr>
        <p:xfrm>
          <a:off x="1778000" y="2743200"/>
          <a:ext cx="14719300" cy="5588000"/>
        </p:xfrm>
        <a:graphic>
          <a:graphicData uri="http://schemas.openxmlformats.org/drawingml/2006/table">
            <a:tbl>
              <a:tblPr/>
              <a:tblGrid>
                <a:gridCol w="340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17600"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Test Acc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F1-score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Precision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Recall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Cosine 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30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Similarity</a:t>
                      </a:r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base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0.840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0.871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0.861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0.863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-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 Only Replacement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0.876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0.855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0.856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0.856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0.951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1" i="0" u="none" strike="noStrike">
                          <a:solidFill>
                            <a:srgbClr val="FFFFFF"/>
                          </a:solidFill>
                          <a:latin typeface="Pretendard Regular"/>
                        </a:rPr>
                        <a:t> Only Insertion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55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1" i="0" u="none" strike="noStrike">
                          <a:solidFill>
                            <a:srgbClr val="FFFFFF"/>
                          </a:solidFill>
                          <a:latin typeface="Pretendard Regular"/>
                        </a:rPr>
                        <a:t>0.867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55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1" i="0" u="none" strike="noStrike">
                          <a:solidFill>
                            <a:srgbClr val="FFFFFF"/>
                          </a:solidFill>
                          <a:latin typeface="Pretendard Regular"/>
                        </a:rPr>
                        <a:t>0.881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55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1" i="0" u="none" strike="noStrike">
                          <a:solidFill>
                            <a:srgbClr val="FFFFFF"/>
                          </a:solidFill>
                          <a:latin typeface="Pretendard Regular"/>
                        </a:rPr>
                        <a:t>0.864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55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1" i="0" u="none" strike="noStrike">
                          <a:solidFill>
                            <a:srgbClr val="FFFFFF"/>
                          </a:solidFill>
                          <a:latin typeface="Pretendard Regular"/>
                        </a:rPr>
                        <a:t>0.885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55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1" i="0" u="none" strike="noStrike">
                          <a:solidFill>
                            <a:srgbClr val="FFFFFF"/>
                          </a:solidFill>
                          <a:latin typeface="Pretendard Regular"/>
                        </a:rPr>
                        <a:t>0.973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5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Both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0.865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0.864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0.864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0.865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0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0.964</a:t>
                      </a:r>
                      <a:endParaRPr lang="en-US" sz="1100"/>
                    </a:p>
                  </a:txBody>
                  <a:tcPr marL="19050" marR="19050" marT="19050" marB="19050" anchor="ctr">
                    <a:lnL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056" cap="flat" cmpd="sng" algn="ctr">
                      <a:solidFill>
                        <a:srgbClr val="5585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5">
            <a:extLst>
              <a:ext uri="{FF2B5EF4-FFF2-40B4-BE49-F238E27FC236}">
                <a16:creationId xmlns:a16="http://schemas.microsoft.com/office/drawing/2014/main" id="{9FA21F08-44E0-A7B1-74AC-B8389A8C9821}"/>
              </a:ext>
            </a:extLst>
          </p:cNvPr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EADBC00-8FD7-5EBD-8758-C9EF706B2037}"/>
              </a:ext>
            </a:extLst>
          </p:cNvPr>
          <p:cNvSpPr txBox="1"/>
          <p:nvPr/>
        </p:nvSpPr>
        <p:spPr>
          <a:xfrm>
            <a:off x="762000" y="660400"/>
            <a:ext cx="84328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0</a:t>
            </a:r>
            <a:r>
              <a:rPr lang="en-US" sz="3500" b="1" spc="100" dirty="0">
                <a:solidFill>
                  <a:srgbClr val="55855B"/>
                </a:solidFill>
                <a:latin typeface="Pretendard Bold"/>
              </a:rPr>
              <a:t>2</a:t>
            </a: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. Evaluation Metrics</a:t>
            </a:r>
            <a:r>
              <a:rPr lang="en-US" sz="3500" b="0" i="0" u="none" strike="noStrike" spc="100" dirty="0">
                <a:solidFill>
                  <a:srgbClr val="55855B"/>
                </a:solidFill>
                <a:latin typeface="Pretendard Bold"/>
              </a:rPr>
              <a:t> - AI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A038F28-A7F1-45CB-CA39-9B46E7C8ACC6}"/>
              </a:ext>
            </a:extLst>
          </p:cNvPr>
          <p:cNvSpPr txBox="1"/>
          <p:nvPr/>
        </p:nvSpPr>
        <p:spPr>
          <a:xfrm>
            <a:off x="7416800" y="1993900"/>
            <a:ext cx="90551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epoch = 5, batch size = 32, learning rate = 5e-5 </a:t>
            </a:r>
          </a:p>
        </p:txBody>
      </p:sp>
    </p:spTree>
    <p:extLst>
      <p:ext uri="{BB962C8B-B14F-4D97-AF65-F5344CB8AC3E}">
        <p14:creationId xmlns:p14="http://schemas.microsoft.com/office/powerpoint/2010/main" val="35448880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44562-FFDF-56F0-C89E-5E3254430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28F6BE3-AE5E-F124-B74F-C4F9A33BE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37D9E91F-BA48-75F0-4597-F8EAE3A9B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C14653F-4008-24A7-D2B8-14956F443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4330700"/>
            <a:ext cx="11163300" cy="14097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F929A73F-1C15-0452-C10C-9404C8091D62}"/>
              </a:ext>
            </a:extLst>
          </p:cNvPr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BC1E6E9-4B80-15FE-94B7-9D950A76007B}"/>
              </a:ext>
            </a:extLst>
          </p:cNvPr>
          <p:cNvSpPr txBox="1"/>
          <p:nvPr/>
        </p:nvSpPr>
        <p:spPr>
          <a:xfrm>
            <a:off x="762000" y="660400"/>
            <a:ext cx="84328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0</a:t>
            </a:r>
            <a:r>
              <a:rPr lang="en-US" sz="3500" b="1" spc="100" dirty="0">
                <a:solidFill>
                  <a:srgbClr val="55855B"/>
                </a:solidFill>
                <a:latin typeface="Pretendard Bold"/>
              </a:rPr>
              <a:t>2</a:t>
            </a: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. Evaluation Metrics - AI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52C1EC5-C44D-A82B-3C9F-3CC64434CC8B}"/>
              </a:ext>
            </a:extLst>
          </p:cNvPr>
          <p:cNvSpPr txBox="1"/>
          <p:nvPr/>
        </p:nvSpPr>
        <p:spPr>
          <a:xfrm>
            <a:off x="1257300" y="2755900"/>
            <a:ext cx="15773400" cy="1054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The </a:t>
            </a: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similarity</a:t>
            </a: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 between two vectors that can be obtained </a:t>
            </a:r>
          </a:p>
          <a:p>
            <a:pPr lvl="0" algn="ct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using the </a:t>
            </a:r>
            <a:r>
              <a:rPr lang="en-US" sz="3000" b="1" i="0" u="none" strike="noStrike">
                <a:solidFill>
                  <a:srgbClr val="55855B"/>
                </a:solidFill>
                <a:latin typeface="Pretendard Medium"/>
              </a:rPr>
              <a:t>cosine angle</a:t>
            </a: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 between the two vectors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D5771B1-7D9A-FEB9-FB94-BAB9B9036C12}"/>
              </a:ext>
            </a:extLst>
          </p:cNvPr>
          <p:cNvSpPr txBox="1"/>
          <p:nvPr/>
        </p:nvSpPr>
        <p:spPr>
          <a:xfrm>
            <a:off x="6756400" y="1981200"/>
            <a:ext cx="48768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800" b="1" i="0" u="none" strike="noStrike">
                <a:solidFill>
                  <a:srgbClr val="FFFFFF"/>
                </a:solidFill>
                <a:highlight>
                  <a:srgbClr val="55855B"/>
                </a:highlight>
                <a:latin typeface="Pretendard Medium"/>
              </a:rPr>
              <a:t>&lt; Cosine Simularity &gt;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558054E2-51FB-A790-92AE-F4B5316F651C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>
            <a:extLst>
              <a:ext uri="{FF2B5EF4-FFF2-40B4-BE49-F238E27FC236}">
                <a16:creationId xmlns:a16="http://schemas.microsoft.com/office/drawing/2014/main" id="{FE32B8E4-808F-A4DF-8971-5269F73A4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200" y="7353300"/>
            <a:ext cx="571500" cy="5588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F48EB42F-3C84-66A6-D3B6-B333C0FCEC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1200" y="7353300"/>
            <a:ext cx="571500" cy="558800"/>
          </a:xfrm>
          <a:prstGeom prst="rect">
            <a:avLst/>
          </a:prstGeom>
        </p:spPr>
      </p:pic>
      <p:grpSp>
        <p:nvGrpSpPr>
          <p:cNvPr id="12" name="Group 12">
            <a:extLst>
              <a:ext uri="{FF2B5EF4-FFF2-40B4-BE49-F238E27FC236}">
                <a16:creationId xmlns:a16="http://schemas.microsoft.com/office/drawing/2014/main" id="{46FF2783-9CD8-FA33-A4C0-1EB0760E0CD5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>
            <a:extLst>
              <a:ext uri="{FF2B5EF4-FFF2-40B4-BE49-F238E27FC236}">
                <a16:creationId xmlns:a16="http://schemas.microsoft.com/office/drawing/2014/main" id="{852AFD08-939D-BA4B-32B9-0E8F850A7D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7124700"/>
            <a:ext cx="4368800" cy="1028700"/>
          </a:xfrm>
          <a:prstGeom prst="rect">
            <a:avLst/>
          </a:prstGeom>
          <a:effectLst>
            <a:outerShdw blurRad="10562" dist="15844" dir="2700000">
              <a:srgbClr val="000000">
                <a:alpha val="30000"/>
              </a:srgbClr>
            </a:outerShdw>
          </a:effectLst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8F4A9F8A-B8AD-06F1-61E4-3F992B900CDB}"/>
              </a:ext>
            </a:extLst>
          </p:cNvPr>
          <p:cNvSpPr txBox="1"/>
          <p:nvPr/>
        </p:nvSpPr>
        <p:spPr>
          <a:xfrm>
            <a:off x="1054100" y="7366000"/>
            <a:ext cx="40259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212121"/>
                </a:solidFill>
                <a:latin typeface="Pretendard SemiBold"/>
              </a:rPr>
              <a:t>BERT Embedding</a:t>
            </a:r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2F2472D0-B32D-1587-CE43-D65917F0EBED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>
            <a:extLst>
              <a:ext uri="{FF2B5EF4-FFF2-40B4-BE49-F238E27FC236}">
                <a16:creationId xmlns:a16="http://schemas.microsoft.com/office/drawing/2014/main" id="{47B9D395-E811-0816-312A-35440A4B57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1300" y="6819900"/>
            <a:ext cx="5232400" cy="1638300"/>
          </a:xfrm>
          <a:prstGeom prst="rect">
            <a:avLst/>
          </a:prstGeom>
          <a:effectLst>
            <a:outerShdw blurRad="26594" dist="25140" dir="2700000">
              <a:srgbClr val="000000">
                <a:alpha val="30000"/>
              </a:srgbClr>
            </a:outerShdw>
          </a:effectLst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4B638145-B881-7EEF-647D-AC38C594F6B5}"/>
              </a:ext>
            </a:extLst>
          </p:cNvPr>
          <p:cNvSpPr txBox="1"/>
          <p:nvPr/>
        </p:nvSpPr>
        <p:spPr>
          <a:xfrm>
            <a:off x="6553200" y="7124700"/>
            <a:ext cx="5270500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212121"/>
                </a:solidFill>
                <a:latin typeface="Pretendard SemiBold"/>
              </a:rPr>
              <a:t>Calculate the mean of the extracted vector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6CB99C07-550E-E711-FD69-E2ABFFEDA911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>
            <a:extLst>
              <a:ext uri="{FF2B5EF4-FFF2-40B4-BE49-F238E27FC236}">
                <a16:creationId xmlns:a16="http://schemas.microsoft.com/office/drawing/2014/main" id="{060E6461-826C-319F-6438-8528A0CFB6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66700" y="6616700"/>
            <a:ext cx="4457700" cy="2082800"/>
          </a:xfrm>
          <a:prstGeom prst="rect">
            <a:avLst/>
          </a:prstGeom>
          <a:effectLst>
            <a:outerShdw blurRad="43462" dist="32139" dir="2700000">
              <a:srgbClr val="000000">
                <a:alpha val="30000"/>
              </a:srgbClr>
            </a:outerShdw>
          </a:effectLst>
        </p:spPr>
      </p:pic>
      <p:sp>
        <p:nvSpPr>
          <p:cNvPr id="20" name="TextBox 20">
            <a:extLst>
              <a:ext uri="{FF2B5EF4-FFF2-40B4-BE49-F238E27FC236}">
                <a16:creationId xmlns:a16="http://schemas.microsoft.com/office/drawing/2014/main" id="{20FA58F1-8621-1718-8139-94E6117AFBC6}"/>
              </a:ext>
            </a:extLst>
          </p:cNvPr>
          <p:cNvSpPr txBox="1"/>
          <p:nvPr/>
        </p:nvSpPr>
        <p:spPr>
          <a:xfrm>
            <a:off x="13157200" y="6883400"/>
            <a:ext cx="407670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212121"/>
                </a:solidFill>
                <a:latin typeface="Pretendard SemiBold"/>
              </a:rPr>
              <a:t>Calculate the mean </a:t>
            </a:r>
          </a:p>
          <a:p>
            <a:pPr lvl="0" algn="ct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212121"/>
                </a:solidFill>
                <a:latin typeface="Pretendard SemiBold"/>
              </a:rPr>
              <a:t>cosine simularity </a:t>
            </a:r>
          </a:p>
          <a:p>
            <a:pPr lvl="0" algn="ct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212121"/>
                </a:solidFill>
                <a:latin typeface="Pretendard SemiBold"/>
              </a:rPr>
              <a:t>with augmented data</a:t>
            </a:r>
          </a:p>
        </p:txBody>
      </p:sp>
    </p:spTree>
    <p:extLst>
      <p:ext uri="{BB962C8B-B14F-4D97-AF65-F5344CB8AC3E}">
        <p14:creationId xmlns:p14="http://schemas.microsoft.com/office/powerpoint/2010/main" val="20643651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300" y="2006600"/>
            <a:ext cx="3517900" cy="3441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9300" y="2006600"/>
            <a:ext cx="6502400" cy="3441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6300" y="3441700"/>
            <a:ext cx="889000" cy="5588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2000" y="660400"/>
            <a:ext cx="84328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03. Challenges - Front-end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6210300"/>
            <a:ext cx="11061700" cy="12700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3949700" y="6527800"/>
            <a:ext cx="105537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800" b="0" i="0" u="none" strike="noStrike">
                <a:solidFill>
                  <a:srgbClr val="000000"/>
                </a:solidFill>
                <a:latin typeface="Pretendard Medium"/>
              </a:rPr>
              <a:t>Limitations of the imported module, </a:t>
            </a:r>
            <a:r>
              <a:rPr lang="en-US" sz="3800" b="1" i="0" u="none" strike="noStrike">
                <a:solidFill>
                  <a:srgbClr val="55855B"/>
                </a:solidFill>
                <a:latin typeface="Pretendard Medium"/>
              </a:rPr>
              <a:t>datepicker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8902700" y="7772400"/>
            <a:ext cx="571500" cy="558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245100" y="8470900"/>
            <a:ext cx="78867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 </a:t>
            </a:r>
            <a:r>
              <a:rPr lang="en-US" sz="3000" b="1" i="0" u="none" strike="noStrike">
                <a:solidFill>
                  <a:srgbClr val="FFFFFF"/>
                </a:solidFill>
                <a:highlight>
                  <a:srgbClr val="55855B"/>
                </a:highlight>
                <a:latin typeface="Pretendard Medium"/>
              </a:rPr>
              <a:t>customize</a:t>
            </a: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 it and make our own datepicker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1816100"/>
            <a:ext cx="3683000" cy="3683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00" y="1879600"/>
            <a:ext cx="3683000" cy="368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0" y="1943100"/>
            <a:ext cx="3683000" cy="3683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2000" y="660400"/>
            <a:ext cx="84328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03. Challenges - Front-end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200" y="6210300"/>
            <a:ext cx="12484100" cy="12700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3187700" y="6527800"/>
            <a:ext cx="120015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800" b="1" i="0" u="none" strike="noStrike">
                <a:solidFill>
                  <a:srgbClr val="55855B"/>
                </a:solidFill>
                <a:latin typeface="Pretendard Medium"/>
              </a:rPr>
              <a:t>Keep the page</a:t>
            </a:r>
            <a:r>
              <a:rPr lang="en-US" sz="3800" b="0" i="0" u="none" strike="noStrike">
                <a:solidFill>
                  <a:srgbClr val="000000"/>
                </a:solidFill>
                <a:latin typeface="Pretendard Medium"/>
              </a:rPr>
              <a:t> at the same time as the details change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902700" y="7772400"/>
            <a:ext cx="571500" cy="558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245100" y="8470900"/>
            <a:ext cx="78867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 b="1" i="0" u="none" strike="noStrike">
                <a:solidFill>
                  <a:srgbClr val="FFFFFF"/>
                </a:solidFill>
                <a:highlight>
                  <a:srgbClr val="55855B"/>
                </a:highlight>
                <a:latin typeface="Pretendard Medium"/>
              </a:rPr>
              <a:t>Create</a:t>
            </a:r>
            <a:r>
              <a:rPr lang="en-US" sz="3000" b="1" i="0" u="none" strike="noStrike">
                <a:solidFill>
                  <a:srgbClr val="FFFFFF"/>
                </a:solidFill>
                <a:latin typeface="Pretendard Medium"/>
              </a:rPr>
              <a:t> </a:t>
            </a:r>
            <a:r>
              <a:rPr lang="en-US" sz="3000" b="0" i="0" u="none" strike="noStrike">
                <a:solidFill>
                  <a:srgbClr val="212121"/>
                </a:solidFill>
                <a:latin typeface="Pretendard Medium"/>
              </a:rPr>
              <a:t>a tab component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00" y="660400"/>
            <a:ext cx="84328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03. Challenges - Back-end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400300"/>
            <a:ext cx="6629400" cy="1270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197600" y="2717800"/>
            <a:ext cx="59817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800" b="0" i="0" u="none" strike="noStrike">
                <a:solidFill>
                  <a:srgbClr val="000000"/>
                </a:solidFill>
                <a:latin typeface="Pretendard Medium"/>
              </a:rPr>
              <a:t>Handling Large-scale Data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0" y="6184900"/>
            <a:ext cx="889000" cy="5588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5200" y="6896100"/>
            <a:ext cx="8458200" cy="1130300"/>
          </a:xfrm>
          <a:prstGeom prst="rect">
            <a:avLst/>
          </a:prstGeom>
          <a:effectLst>
            <a:outerShdw blurRad="12624" dist="17321" dir="2700000">
              <a:srgbClr val="000000">
                <a:alpha val="30000"/>
              </a:srgbClr>
            </a:outerShdw>
          </a:effectLst>
        </p:spPr>
      </p:pic>
      <p:sp>
        <p:nvSpPr>
          <p:cNvPr id="13" name="TextBox 13"/>
          <p:cNvSpPr txBox="1"/>
          <p:nvPr/>
        </p:nvSpPr>
        <p:spPr>
          <a:xfrm>
            <a:off x="8877300" y="7150100"/>
            <a:ext cx="79121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00" b="0" i="0" u="none" strike="noStrike">
                <a:solidFill>
                  <a:srgbClr val="FFFFFF"/>
                </a:solidFill>
                <a:latin typeface="Pretendard SemiBold"/>
              </a:rPr>
              <a:t>Distributed Processing Technique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5200" y="4927600"/>
            <a:ext cx="8458200" cy="1130300"/>
          </a:xfrm>
          <a:prstGeom prst="rect">
            <a:avLst/>
          </a:prstGeom>
          <a:effectLst>
            <a:outerShdw blurRad="12624" dist="17321" dir="2700000">
              <a:srgbClr val="000000">
                <a:alpha val="30000"/>
              </a:srgbClr>
            </a:outerShdw>
          </a:effectLst>
        </p:spPr>
      </p:pic>
      <p:sp>
        <p:nvSpPr>
          <p:cNvPr id="16" name="TextBox 16"/>
          <p:cNvSpPr txBox="1"/>
          <p:nvPr/>
        </p:nvSpPr>
        <p:spPr>
          <a:xfrm>
            <a:off x="9410700" y="5168900"/>
            <a:ext cx="68072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00" b="0" i="0" u="none" strike="noStrike">
                <a:solidFill>
                  <a:srgbClr val="FFFFFF"/>
                </a:solidFill>
                <a:latin typeface="Pretendard SemiBold"/>
              </a:rPr>
              <a:t>Optimized Database Indexing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2100" y="5613400"/>
            <a:ext cx="4813300" cy="1130300"/>
          </a:xfrm>
          <a:prstGeom prst="rect">
            <a:avLst/>
          </a:prstGeom>
          <a:effectLst>
            <a:outerShdw blurRad="12624" dist="17321" dir="2700000">
              <a:srgbClr val="000000">
                <a:alpha val="30000"/>
              </a:srgbClr>
            </a:outerShdw>
          </a:effectLst>
        </p:spPr>
      </p:pic>
      <p:sp>
        <p:nvSpPr>
          <p:cNvPr id="20" name="TextBox 20"/>
          <p:cNvSpPr txBox="1"/>
          <p:nvPr/>
        </p:nvSpPr>
        <p:spPr>
          <a:xfrm>
            <a:off x="1206500" y="5867400"/>
            <a:ext cx="55372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00" b="0" i="0" u="none" strike="noStrike">
                <a:solidFill>
                  <a:srgbClr val="FFFFFF"/>
                </a:solidFill>
                <a:latin typeface="Pretendard SemiBold"/>
              </a:rPr>
              <a:t>Large Data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19200" y="6908800"/>
            <a:ext cx="5499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00" b="0" i="0" u="none" strike="noStrike">
                <a:solidFill>
                  <a:srgbClr val="55855B"/>
                </a:solidFill>
                <a:latin typeface="Pretendard SemiBold"/>
              </a:rPr>
              <a:t>Make Slow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00" y="660400"/>
            <a:ext cx="84328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03. Limitations - Front-end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200" y="2374900"/>
            <a:ext cx="3416300" cy="34036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8200" y="2374900"/>
            <a:ext cx="3416300" cy="3416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57200" y="2844800"/>
            <a:ext cx="1600200" cy="24892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4100" y="2374900"/>
            <a:ext cx="3416300" cy="341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2100" y="3086100"/>
            <a:ext cx="1181100" cy="1397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44700" y="6756400"/>
            <a:ext cx="14109700" cy="1270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349500" y="7073900"/>
            <a:ext cx="137160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800" b="0" i="0" u="none" strike="noStrike">
                <a:solidFill>
                  <a:srgbClr val="000000"/>
                </a:solidFill>
                <a:latin typeface="Pretendard Medium"/>
              </a:rPr>
              <a:t>Limitations of fitting web pages based on </a:t>
            </a:r>
            <a:r>
              <a:rPr lang="en-US" sz="3800" b="1" i="0" u="none" strike="noStrike">
                <a:solidFill>
                  <a:srgbClr val="55855B"/>
                </a:solidFill>
                <a:latin typeface="Pretendard Medium"/>
              </a:rPr>
              <a:t>user's environment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00" y="660400"/>
            <a:ext cx="84328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03. Limitations - Back-end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2184400"/>
            <a:ext cx="8839200" cy="1270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118100" y="2501900"/>
            <a:ext cx="82423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800" b="0" i="0" u="none" strike="noStrike">
                <a:solidFill>
                  <a:srgbClr val="000000"/>
                </a:solidFill>
                <a:latin typeface="Pretendard Medium"/>
              </a:rPr>
              <a:t>Potential Delay in Real-time Analysis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750300" y="6337300"/>
            <a:ext cx="889000" cy="558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7543800"/>
            <a:ext cx="5956300" cy="1130300"/>
          </a:xfrm>
          <a:prstGeom prst="rect">
            <a:avLst/>
          </a:prstGeom>
          <a:effectLst>
            <a:outerShdw blurRad="12624" dist="17321" dir="2700000">
              <a:srgbClr val="000000">
                <a:alpha val="30000"/>
              </a:srgbClr>
            </a:outerShdw>
          </a:effectLst>
        </p:spPr>
      </p:pic>
      <p:sp>
        <p:nvSpPr>
          <p:cNvPr id="10" name="TextBox 10"/>
          <p:cNvSpPr txBox="1"/>
          <p:nvPr/>
        </p:nvSpPr>
        <p:spPr>
          <a:xfrm>
            <a:off x="7251700" y="7797800"/>
            <a:ext cx="3898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00" b="0" i="0" u="none" strike="noStrike">
                <a:solidFill>
                  <a:srgbClr val="FFFFFF"/>
                </a:solidFill>
                <a:latin typeface="Pretendard SemiBold"/>
              </a:rPr>
              <a:t>Response Delay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700" y="4127500"/>
            <a:ext cx="8458200" cy="1130300"/>
          </a:xfrm>
          <a:prstGeom prst="rect">
            <a:avLst/>
          </a:prstGeom>
          <a:effectLst>
            <a:outerShdw blurRad="12624" dist="17321" dir="2700000">
              <a:srgbClr val="000000">
                <a:alpha val="30000"/>
              </a:srgbClr>
            </a:outerShdw>
          </a:effectLst>
        </p:spPr>
      </p:pic>
      <p:sp>
        <p:nvSpPr>
          <p:cNvPr id="14" name="TextBox 14"/>
          <p:cNvSpPr txBox="1"/>
          <p:nvPr/>
        </p:nvSpPr>
        <p:spPr>
          <a:xfrm>
            <a:off x="5537200" y="4356100"/>
            <a:ext cx="73660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00" b="0" i="0" u="none" strike="noStrike">
                <a:solidFill>
                  <a:srgbClr val="FFFFFF"/>
                </a:solidFill>
                <a:latin typeface="Pretendard SemiBold"/>
              </a:rPr>
              <a:t>Export emotion analysis Results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38900" y="5422900"/>
            <a:ext cx="5499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00" b="0" i="0" u="none" strike="noStrike">
                <a:solidFill>
                  <a:srgbClr val="55855B"/>
                </a:solidFill>
                <a:latin typeface="Pretendard SemiBold"/>
              </a:rPr>
              <a:t>Need constant time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5200" y="2844800"/>
            <a:ext cx="5067300" cy="5168900"/>
          </a:xfrm>
          <a:prstGeom prst="rect">
            <a:avLst/>
          </a:prstGeom>
          <a:effectLst>
            <a:outerShdw blurRad="256187" dist="78028" dir="270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2000" y="711200"/>
            <a:ext cx="108585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0</a:t>
            </a:r>
            <a:r>
              <a:rPr lang="en-US" altLang="ko-KR" sz="3500" b="1" i="0" u="none" strike="noStrike" spc="100" dirty="0">
                <a:solidFill>
                  <a:srgbClr val="55855B"/>
                </a:solidFill>
                <a:latin typeface="Pretendard Bold"/>
              </a:rPr>
              <a:t>4</a:t>
            </a:r>
            <a:r>
              <a:rPr lang="en-US" sz="3500" b="1" i="0" u="none" strike="noStrike" spc="100" dirty="0">
                <a:solidFill>
                  <a:srgbClr val="55855B"/>
                </a:solidFill>
                <a:latin typeface="Pretendard Bold"/>
              </a:rPr>
              <a:t>. Plan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2433300" y="4419600"/>
            <a:ext cx="723900" cy="38100"/>
          </a:xfrm>
          <a:prstGeom prst="rect">
            <a:avLst/>
          </a:prstGeom>
          <a:effectLst>
            <a:outerShdw blurRad="17" dist="636" dir="18900000">
              <a:srgbClr val="000000">
                <a:alpha val="50000"/>
              </a:srgbClr>
            </a:outerShdw>
          </a:effectLst>
        </p:spPr>
      </p:pic>
      <p:sp>
        <p:nvSpPr>
          <p:cNvPr id="8" name="TextBox 8"/>
          <p:cNvSpPr txBox="1"/>
          <p:nvPr/>
        </p:nvSpPr>
        <p:spPr>
          <a:xfrm>
            <a:off x="12750800" y="3175000"/>
            <a:ext cx="4381500" cy="444500"/>
          </a:xfrm>
          <a:prstGeom prst="rect">
            <a:avLst/>
          </a:prstGeom>
          <a:effectLst>
            <a:outerShdw blurRad="29416" dist="3152" dir="2700000">
              <a:srgbClr val="000000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500" b="0" i="0" u="none" strike="noStrike">
                <a:solidFill>
                  <a:srgbClr val="212121"/>
                </a:solidFill>
                <a:latin typeface="Pretendard SemiBold"/>
              </a:rPr>
              <a:t>AI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79400" y="4229100"/>
            <a:ext cx="41656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200" b="0" i="0" u="none" strike="noStrike">
                <a:solidFill>
                  <a:srgbClr val="595959"/>
                </a:solidFill>
                <a:latin typeface="Pretendard SemiBold"/>
              </a:rPr>
              <a:t>Hyperparameter tuning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8750" y="5749601"/>
            <a:ext cx="5168900" cy="2273300"/>
          </a:xfrm>
          <a:prstGeom prst="rect">
            <a:avLst/>
          </a:prstGeom>
          <a:effectLst>
            <a:outerShdw blurRad="51243" dist="34897" dir="2700000">
              <a:srgbClr val="000000">
                <a:alpha val="50000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610350" y="7286301"/>
            <a:ext cx="723900" cy="38100"/>
          </a:xfrm>
          <a:prstGeom prst="rect">
            <a:avLst/>
          </a:prstGeom>
          <a:effectLst>
            <a:outerShdw blurRad="17" dist="636" dir="18900000">
              <a:srgbClr val="000000">
                <a:alpha val="50000"/>
              </a:srgbClr>
            </a:outerShdw>
          </a:effectLst>
        </p:spPr>
      </p:pic>
      <p:sp>
        <p:nvSpPr>
          <p:cNvPr id="13" name="TextBox 13"/>
          <p:cNvSpPr txBox="1"/>
          <p:nvPr/>
        </p:nvSpPr>
        <p:spPr>
          <a:xfrm>
            <a:off x="7156450" y="7095801"/>
            <a:ext cx="4165600" cy="381000"/>
          </a:xfrm>
          <a:prstGeom prst="rect">
            <a:avLst/>
          </a:prstGeom>
          <a:effectLst>
            <a:outerShdw dist="2731" dir="2700000">
              <a:srgbClr val="000000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200" b="0" i="0" u="none" strike="noStrike" dirty="0">
                <a:solidFill>
                  <a:srgbClr val="595959"/>
                </a:solidFill>
                <a:latin typeface="Pretendard SemiBold"/>
              </a:rPr>
              <a:t>Developing </a:t>
            </a:r>
            <a:r>
              <a:rPr lang="en-US" sz="2200" dirty="0">
                <a:solidFill>
                  <a:srgbClr val="595959"/>
                </a:solidFill>
                <a:latin typeface="Pretendard SemiBold"/>
              </a:rPr>
              <a:t>Framework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77050" y="6092501"/>
            <a:ext cx="4381500" cy="431800"/>
          </a:xfrm>
          <a:prstGeom prst="rect">
            <a:avLst/>
          </a:prstGeom>
          <a:effectLst>
            <a:outerShdw dist="3152" dir="2700000">
              <a:srgbClr val="000000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500" b="0" i="0" u="none" strike="noStrike">
                <a:solidFill>
                  <a:srgbClr val="212121"/>
                </a:solidFill>
                <a:latin typeface="Pretendard SemiBold"/>
              </a:rPr>
              <a:t>Back-end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2844800"/>
            <a:ext cx="5067300" cy="5168900"/>
          </a:xfrm>
          <a:prstGeom prst="rect">
            <a:avLst/>
          </a:prstGeom>
          <a:effectLst>
            <a:outerShdw blurRad="256211" dist="78032" dir="2700000">
              <a:srgbClr val="000000">
                <a:alpha val="50000"/>
              </a:srgbClr>
            </a:outerShdw>
          </a:effectLst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838200" y="4445000"/>
            <a:ext cx="711200" cy="38100"/>
          </a:xfrm>
          <a:prstGeom prst="rect">
            <a:avLst/>
          </a:prstGeom>
          <a:effectLst>
            <a:outerShdw blurRad="16" dist="625" dir="18900000">
              <a:srgbClr val="000000">
                <a:alpha val="50000"/>
              </a:srgbClr>
            </a:outerShdw>
          </a:effectLst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838200" y="5753100"/>
            <a:ext cx="711200" cy="38100"/>
          </a:xfrm>
          <a:prstGeom prst="rect">
            <a:avLst/>
          </a:prstGeom>
          <a:effectLst>
            <a:outerShdw blurRad="16" dist="625" dir="18900000">
              <a:srgbClr val="000000">
                <a:alpha val="50000"/>
              </a:srgbClr>
            </a:outerShdw>
          </a:effectLst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838200" y="7048500"/>
            <a:ext cx="711200" cy="38100"/>
          </a:xfrm>
          <a:prstGeom prst="rect">
            <a:avLst/>
          </a:prstGeom>
          <a:effectLst>
            <a:outerShdw blurRad="16" dist="625" dir="18900000">
              <a:srgbClr val="000000">
                <a:alpha val="50000"/>
              </a:srgbClr>
            </a:outerShdw>
          </a:effectLst>
        </p:spPr>
      </p:pic>
      <p:sp>
        <p:nvSpPr>
          <p:cNvPr id="20" name="TextBox 20"/>
          <p:cNvSpPr txBox="1"/>
          <p:nvPr/>
        </p:nvSpPr>
        <p:spPr>
          <a:xfrm>
            <a:off x="1143000" y="3225800"/>
            <a:ext cx="4305300" cy="419100"/>
          </a:xfrm>
          <a:prstGeom prst="rect">
            <a:avLst/>
          </a:prstGeom>
          <a:effectLst>
            <a:outerShdw dist="3095" dir="2700000">
              <a:srgbClr val="000000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212121"/>
                </a:solidFill>
                <a:latin typeface="Pretendard SemiBold"/>
              </a:rPr>
              <a:t>UX/UI Design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71600" y="4102100"/>
            <a:ext cx="4089400" cy="685800"/>
          </a:xfrm>
          <a:prstGeom prst="rect">
            <a:avLst/>
          </a:prstGeom>
          <a:effectLst>
            <a:outerShdw dist="2682" dir="2700000">
              <a:srgbClr val="000000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100" b="0" i="0" u="none" strike="noStrike" dirty="0">
                <a:solidFill>
                  <a:srgbClr val="595959"/>
                </a:solidFill>
                <a:latin typeface="Pretendard SemiBold"/>
              </a:rPr>
              <a:t>Advance existing design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71600" y="5867400"/>
            <a:ext cx="4076700" cy="279400"/>
          </a:xfrm>
          <a:prstGeom prst="rect">
            <a:avLst/>
          </a:prstGeom>
          <a:effectLst>
            <a:outerShdw dist="2063" dir="2700000">
              <a:srgbClr val="000000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600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Logo CI, Color Chip, Typography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71600" y="5397500"/>
            <a:ext cx="4089400" cy="368300"/>
          </a:xfrm>
          <a:prstGeom prst="rect">
            <a:avLst/>
          </a:prstGeom>
          <a:effectLst>
            <a:outerShdw dist="2682" dir="2700000">
              <a:srgbClr val="000000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100" b="0" i="0" u="none" strike="noStrike" dirty="0">
                <a:solidFill>
                  <a:srgbClr val="595959"/>
                </a:solidFill>
                <a:latin typeface="Pretendard SemiBold"/>
              </a:rPr>
              <a:t>Create a Branding Design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71600" y="6718300"/>
            <a:ext cx="4089400" cy="685800"/>
          </a:xfrm>
          <a:prstGeom prst="rect">
            <a:avLst/>
          </a:prstGeom>
          <a:effectLst>
            <a:outerShdw dist="2682" dir="2700000">
              <a:srgbClr val="000000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100" b="0" i="0" u="none" strike="noStrike" dirty="0">
                <a:solidFill>
                  <a:srgbClr val="595959"/>
                </a:solidFill>
                <a:latin typeface="Pretendard SemiBold"/>
              </a:rPr>
              <a:t>Planning Additional Features and Building Wireframes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0" y="2844800"/>
            <a:ext cx="5067300" cy="2387600"/>
          </a:xfrm>
          <a:prstGeom prst="rect">
            <a:avLst/>
          </a:prstGeom>
          <a:effectLst>
            <a:outerShdw blurRad="256187" dist="78028" dir="2700000">
              <a:srgbClr val="000000">
                <a:alpha val="50000"/>
              </a:srgbClr>
            </a:outerShdw>
          </a:effectLst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6667500" y="4425561"/>
            <a:ext cx="711200" cy="38100"/>
          </a:xfrm>
          <a:prstGeom prst="rect">
            <a:avLst/>
          </a:prstGeom>
          <a:effectLst>
            <a:outerShdw blurRad="16" dist="625" dir="18900000">
              <a:srgbClr val="000000">
                <a:alpha val="50000"/>
              </a:srgbClr>
            </a:outerShdw>
          </a:effectLst>
        </p:spPr>
      </p:pic>
      <p:sp>
        <p:nvSpPr>
          <p:cNvPr id="29" name="TextBox 29"/>
          <p:cNvSpPr txBox="1"/>
          <p:nvPr/>
        </p:nvSpPr>
        <p:spPr>
          <a:xfrm>
            <a:off x="6985000" y="3225800"/>
            <a:ext cx="4305300" cy="419100"/>
          </a:xfrm>
          <a:prstGeom prst="rect">
            <a:avLst/>
          </a:prstGeom>
          <a:effectLst>
            <a:outerShdw dist="3095" dir="2700000">
              <a:srgbClr val="000000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212121"/>
                </a:solidFill>
                <a:latin typeface="Pretendard SemiBold"/>
              </a:rPr>
              <a:t>Front-end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200900" y="4095361"/>
            <a:ext cx="4089400" cy="685800"/>
          </a:xfrm>
          <a:prstGeom prst="rect">
            <a:avLst/>
          </a:prstGeom>
          <a:effectLst>
            <a:outerShdw dist="2682" dir="2700000">
              <a:srgbClr val="000000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100" b="0" i="0" u="none" strike="noStrike" dirty="0">
                <a:solidFill>
                  <a:srgbClr val="595959"/>
                </a:solidFill>
                <a:latin typeface="Pretendard SemiBold"/>
              </a:rPr>
              <a:t> Implementation</a:t>
            </a:r>
          </a:p>
          <a:p>
            <a:pPr lvl="0" algn="l">
              <a:lnSpc>
                <a:spcPct val="99600"/>
              </a:lnSpc>
            </a:pPr>
            <a:r>
              <a:rPr lang="en-US" sz="2100" b="0" i="0" u="none" strike="noStrike" dirty="0">
                <a:solidFill>
                  <a:srgbClr val="595959"/>
                </a:solidFill>
                <a:latin typeface="Pretendard SemiBold"/>
              </a:rPr>
              <a:t>of an Unimplemented Pages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2433300" y="5753100"/>
            <a:ext cx="723900" cy="38100"/>
          </a:xfrm>
          <a:prstGeom prst="rect">
            <a:avLst/>
          </a:prstGeom>
          <a:effectLst>
            <a:outerShdw blurRad="17" dist="636" dir="18900000">
              <a:srgbClr val="000000">
                <a:alpha val="50000"/>
              </a:srgbClr>
            </a:outerShdw>
          </a:effectLst>
        </p:spPr>
      </p:pic>
      <p:sp>
        <p:nvSpPr>
          <p:cNvPr id="34" name="TextBox 34"/>
          <p:cNvSpPr txBox="1"/>
          <p:nvPr/>
        </p:nvSpPr>
        <p:spPr>
          <a:xfrm>
            <a:off x="13004800" y="5232400"/>
            <a:ext cx="46736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200" b="0" i="0" u="none" strike="noStrike">
                <a:solidFill>
                  <a:srgbClr val="595959"/>
                </a:solidFill>
                <a:latin typeface="Pretendard SemiBold"/>
              </a:rPr>
              <a:t>Identify the KoELECTRA architecture and devise ways </a:t>
            </a:r>
          </a:p>
          <a:p>
            <a:pPr lvl="0" algn="l">
              <a:lnSpc>
                <a:spcPct val="99600"/>
              </a:lnSpc>
            </a:pPr>
            <a:r>
              <a:rPr lang="en-US" sz="2200" b="0" i="0" u="none" strike="noStrike">
                <a:solidFill>
                  <a:srgbClr val="595959"/>
                </a:solidFill>
                <a:latin typeface="Pretendard SemiBold"/>
              </a:rPr>
              <a:t>to improve performance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2458700" y="7048500"/>
            <a:ext cx="723900" cy="38100"/>
          </a:xfrm>
          <a:prstGeom prst="rect">
            <a:avLst/>
          </a:prstGeom>
          <a:effectLst>
            <a:outerShdw blurRad="17" dist="636" dir="18900000">
              <a:srgbClr val="000000">
                <a:alpha val="50000"/>
              </a:srgbClr>
            </a:outerShdw>
          </a:effectLst>
        </p:spPr>
      </p:pic>
      <p:sp>
        <p:nvSpPr>
          <p:cNvPr id="36" name="TextBox 36"/>
          <p:cNvSpPr txBox="1"/>
          <p:nvPr/>
        </p:nvSpPr>
        <p:spPr>
          <a:xfrm>
            <a:off x="13004800" y="6870700"/>
            <a:ext cx="41656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200" b="0" i="0" u="none" strike="noStrike">
                <a:solidFill>
                  <a:srgbClr val="595959"/>
                </a:solidFill>
                <a:latin typeface="Pretendard SemiBold"/>
              </a:rPr>
              <a:t>AI model serving with flask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18338800" cy="101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198100"/>
            <a:ext cx="18338800" cy="101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324256400" y="-2147483648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" y="-2781300"/>
            <a:ext cx="18288000" cy="9525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-2781300"/>
            <a:ext cx="1854200" cy="1854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" y="-2781300"/>
            <a:ext cx="1854200" cy="1854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" y="4889500"/>
            <a:ext cx="1854200" cy="18542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3982700" y="9550400"/>
            <a:ext cx="3733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55855B"/>
                </a:solidFill>
                <a:latin typeface="Pretendard Medium"/>
              </a:rPr>
              <a:t>Capstone Design Project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20000" y="5105400"/>
            <a:ext cx="3276600" cy="1600200"/>
          </a:xfrm>
          <a:prstGeom prst="rect">
            <a:avLst/>
          </a:prstGeom>
          <a:effectLst>
            <a:outerShdw blurRad="296333" dist="57150" dir="2700000">
              <a:srgbClr val="FFFFFF">
                <a:alpha val="20000"/>
              </a:srgbClr>
            </a:outerShdw>
          </a:effectLst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9000" b="0" i="0" u="none" strike="noStrike">
                <a:solidFill>
                  <a:srgbClr val="FFFFFF"/>
                </a:solidFill>
                <a:latin typeface="Pretendard ExtraBold"/>
              </a:rPr>
              <a:t>Q &amp; 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37100" y="7099300"/>
            <a:ext cx="8902700" cy="60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500" b="0" i="0" u="none" strike="noStrike">
                <a:solidFill>
                  <a:srgbClr val="55855B"/>
                </a:solidFill>
                <a:latin typeface="Pretendard Medium"/>
              </a:rPr>
              <a:t>NLP-based Psychological Diagnostic Diary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970</Words>
  <Application>Microsoft Macintosh PowerPoint</Application>
  <PresentationFormat>사용자 지정</PresentationFormat>
  <Paragraphs>267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2" baseType="lpstr">
      <vt:lpstr>Happiness Sans Bold</vt:lpstr>
      <vt:lpstr>Pretendard Medium</vt:lpstr>
      <vt:lpstr>Arial</vt:lpstr>
      <vt:lpstr>Pretendard SemiBold</vt:lpstr>
      <vt:lpstr>S-Core Dream 5 Medium</vt:lpstr>
      <vt:lpstr>Pretendard Bold</vt:lpstr>
      <vt:lpstr>Calibri</vt:lpstr>
      <vt:lpstr>Pretendard Regular</vt:lpstr>
      <vt:lpstr>Pretendard Light</vt:lpstr>
      <vt:lpstr>Pretendard ExtraBold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김나영</cp:lastModifiedBy>
  <cp:revision>4</cp:revision>
  <dcterms:created xsi:type="dcterms:W3CDTF">2006-08-16T00:00:00Z</dcterms:created>
  <dcterms:modified xsi:type="dcterms:W3CDTF">2024-11-01T00:58:36Z</dcterms:modified>
</cp:coreProperties>
</file>